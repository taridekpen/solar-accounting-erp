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omePC\Documents\accounting_software\docs\presentations\assets\hero-solar-busin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Inverter Co.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System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 · Many branches · Double-entry GL · Nigerian Naira (NGN)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architecture overview · Sections 1–16 complete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55680" y="64465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product scope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architecture and monorepo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authority and money rules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structure and security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engine and dashboard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procurement cycles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expenses, banking, projects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closing, payroll, admin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import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production readiness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Sections 1–16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purpose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ERP with a true general ledger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solar and inverter business that sells products, manages stock, and delivers installation projects.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legal company with many branches — not a multi-tenant SaaS platform.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financial figure on screens and exports comes from posted double-entry journals.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NestJS API owns posting, tax, costing, and approvals; the browser displays decimal-string amounts only.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is Nigerian Naira (NGN). Totals are never calculated with JavaScript floating-point numbers.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the product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from operations through close and import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606040" cy="1051560"/>
          </a:xfrm>
          <a:prstGeom prst="round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8425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606040" cy="105156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8425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606040" cy="1051560"/>
          </a:xfrm>
          <a:prstGeom prst="round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18425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1463040"/>
            <a:ext cx="2606040" cy="1051560"/>
          </a:xfrm>
          <a:prstGeom prst="round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17152" y="18425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2606040" cy="105156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2141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834640"/>
            <a:ext cx="2606040" cy="105156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47872" y="32141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834640"/>
            <a:ext cx="2606040" cy="1051560"/>
          </a:xfrm>
          <a:prstGeom prst="round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82512" y="32141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0" y="2834640"/>
            <a:ext cx="2606040" cy="105156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17152" y="32141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2606040" cy="1051560"/>
          </a:xfrm>
          <a:prstGeom prst="round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" y="45857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4206240"/>
            <a:ext cx="2606040" cy="105156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47872" y="45857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4206240"/>
            <a:ext cx="2606040" cy="105156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82512" y="45857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0" y="4206240"/>
            <a:ext cx="2606040" cy="1051560"/>
          </a:xfrm>
          <a:prstGeom prst="round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17152" y="4585716"/>
            <a:ext cx="2459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→ API → PostgreSQL, with Redis and Docker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377440" cy="1280160"/>
          </a:xfrm>
          <a:prstGeom prst="round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93852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194560"/>
            <a:ext cx="22311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nav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3240" y="233172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828800"/>
            <a:ext cx="2560320" cy="128016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3592" y="1938528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93592" y="2194560"/>
            <a:ext cx="24140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· Auth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33172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554480"/>
            <a:ext cx="2286000" cy="914400"/>
          </a:xfrm>
          <a:prstGeom prst="round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48272" y="166420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48272" y="19202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697480"/>
            <a:ext cx="2286000" cy="91440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48272" y="280720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48272" y="306324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jobs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8320" y="1828800"/>
            <a:ext cx="2286000" cy="128016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91472" y="193852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91472" y="219456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prod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database, Redis, and queue depth. Swagger is available outside production.</a:t>
            </a:r>
            <a:endParaRPr lang="en-US" sz="1300" dirty="0"/>
          </a:p>
        </p:txBody>
      </p:sp>
      <p:pic>
        <p:nvPicPr>
          <p:cNvPr id="24" name="Image 0" descr="C:\Users\HomePC\Documents\accounting_software\docs\presentations\assets\deployment-sta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0"/>
            <a:ext cx="4754880" cy="17373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577840" y="48463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path: nginx (TLS) → API → managed or compose Postgres; migrate deploy on start.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layout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 · Node 22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96012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81328"/>
            <a:ext cx="10917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10917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shell, feature clients, dashboards, module pages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64240" cy="96012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2578608"/>
            <a:ext cx="10917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10917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modules, Prisma, posting engine, auth, imports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96012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675888"/>
            <a:ext cx="10917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packages/shared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931920"/>
            <a:ext cx="10917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NGN display formatting — no Prisma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11064240" cy="96012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4773168"/>
            <a:ext cx="10917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packages/accounting-rules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5029200"/>
            <a:ext cx="10917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event catalog; API remains financial authority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authority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is the only writer of journals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AccountingPostingService records every journal — sales, purchases, expenses, banking, projects, payroll, and opening balances call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packages/shared formats amounts for display. It does not own balances or profit.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packages/accounting-rules lists posting event mappings; the API applies them.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journals cannot be edited or deleted. A reversal is a new journal that preserves the original.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cards, reports, and PDFs all read posted journal lines — empty ledgers show 0.0000.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dates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strings and company timezone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20624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64208"/>
            <a:ext cx="5248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920240"/>
            <a:ext cx="5248656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amounts are decimal strings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150000.0000)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uses decimal.js and NGN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 number maths for totals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inventory reconciles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× unit cost to value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4206240"/>
          </a:xfrm>
          <a:prstGeom prst="round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1664208"/>
            <a:ext cx="5248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1072" y="1920240"/>
            <a:ext cx="5248656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timezone: Africa/Lagos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month/year presets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company timezone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ranges pass through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fiscal periods reject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without adjustment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legal entity, branch-aware operations</a:t>
            </a:r>
            <a:endParaRPr lang="en-US" sz="1300" dirty="0"/>
          </a:p>
        </p:txBody>
      </p:sp>
      <p:pic>
        <p:nvPicPr>
          <p:cNvPr id="6" name="Image 0" descr="C:\Users\HomePC\Documents\accounting_software\docs\presentations\assets\multi-branch-or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035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141732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company profile with fiscal settings.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departments, and employees.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chart of accounts and roles.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numbers allocated with row locks so concurrent requests stay unique.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for masters; branch deactivation keeps history readable.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branch selector narrows scope via X-Branch-Ids within the user’s assignments.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CSRF, RBAC, branch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session cookies and a readable CSRF cookie; unsafe methods require X-CSRF-Token.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passwords; five failed logins lock the account for fifteen minutes.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roles must enroll TOTP before other protected routes.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staff; no public registration. Reset tokens are hashed.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drive navigation and API guards. Company-wide roles see all branches; others use assignments.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rules block originators from approving their own restricted actions.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 are append-only; secrets are redacted from payloads.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map to balanced, immutable journals</a:t>
            </a:r>
            <a:endParaRPr lang="en-US" sz="1300" dirty="0"/>
          </a:p>
        </p:txBody>
      </p:sp>
      <p:pic>
        <p:nvPicPr>
          <p:cNvPr id="6" name="Image 0" descr="C:\Users\HomePC\Documents\accounting_software\docs\presentations\assets\posting-eng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325880"/>
            <a:ext cx="39319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011680"/>
            <a:ext cx="1600200" cy="1371600"/>
          </a:xfrm>
          <a:prstGeom prst="roundRect">
            <a:avLst/>
          </a:prstGeom>
          <a:solidFill>
            <a:srgbClr val="1B6CA8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0352" y="2121408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2377440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event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03120" y="260604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1" name="Shape 8"/>
          <p:cNvSpPr/>
          <p:nvPr/>
        </p:nvSpPr>
        <p:spPr>
          <a:xfrm>
            <a:off x="2286000" y="2011680"/>
            <a:ext cx="1600200" cy="137160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359152" y="2121408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59152" y="2377440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mapping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31920" y="260604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5" name="Shape 12"/>
          <p:cNvSpPr/>
          <p:nvPr/>
        </p:nvSpPr>
        <p:spPr>
          <a:xfrm>
            <a:off x="4114800" y="2011680"/>
            <a:ext cx="1600200" cy="1371600"/>
          </a:xfrm>
          <a:prstGeom prst="round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187952" y="2121408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87952" y="2377440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draft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260604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9" name="Shape 16"/>
          <p:cNvSpPr/>
          <p:nvPr/>
        </p:nvSpPr>
        <p:spPr>
          <a:xfrm>
            <a:off x="5943600" y="2011680"/>
            <a:ext cx="1600200" cy="137160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16752" y="2121408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16752" y="2377440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lines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84048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balances reconcile to control accounts.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periods reject posting unless an approved adjustment.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creates a linked opposite journal once.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from posted activity for selected branches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purchases, gross profit, expenses, cash &amp; bank, AR, AP, inventory valuation.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= revenue − cost of sales − operating expenses from journal lines.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revenue, expenses, branch sales/profit, and cash movement.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financial card opens the journal lines that make up the figure.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approvals open the accounting review workspace.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posted journals, totals remain 0.0000.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 (order to cash)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Quotations do not post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103120" cy="1463040"/>
          </a:xfrm>
          <a:prstGeom prst="roundRect">
            <a:avLst/>
          </a:prstGeom>
          <a:solidFill>
            <a:srgbClr val="5B6B7C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221284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2468880"/>
            <a:ext cx="19568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274320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0" name="Shape 8"/>
          <p:cNvSpPr/>
          <p:nvPr/>
        </p:nvSpPr>
        <p:spPr>
          <a:xfrm>
            <a:off x="2697480" y="2103120"/>
            <a:ext cx="2103120" cy="146304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70632" y="221284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70632" y="2468880"/>
            <a:ext cx="19568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2103120"/>
            <a:ext cx="2103120" cy="146304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02352" y="221284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issue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02352" y="2468880"/>
            <a:ext cx="19568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274320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60920" y="2103120"/>
            <a:ext cx="2103120" cy="146304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34072" y="221284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34072" y="2468880"/>
            <a:ext cx="19568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Cash/bank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9760" y="274320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2103120"/>
            <a:ext cx="2103120" cy="146304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65792" y="2212848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5792" y="2468880"/>
            <a:ext cx="19568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02336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totals, tax, and discounts are calculated by the API.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settle invoices or record advances without posting revenue again.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statements and aging come from posted sales documents.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cycle (procure to pay)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does not post; GRN and bill 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286000" cy="1463040"/>
          </a:xfrm>
          <a:prstGeom prst="roundRect">
            <a:avLst/>
          </a:prstGeom>
          <a:solidFill>
            <a:srgbClr val="5B6B7C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7552" y="212140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237744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65176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011680"/>
            <a:ext cx="2286000" cy="1463040"/>
          </a:xfrm>
          <a:prstGeom prst="round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0752" y="212140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30752" y="237744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/ GRNI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265176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011680"/>
            <a:ext cx="2286000" cy="1463040"/>
          </a:xfrm>
          <a:prstGeom prst="round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212140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73952" y="237744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32520" y="265176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0" y="2011680"/>
            <a:ext cx="2286000" cy="1463040"/>
          </a:xfrm>
          <a:prstGeom prst="round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17152" y="212140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17152" y="237744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Cash/bank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enforce separation of duties and branch purchase limits.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procurement requires a company-wide user.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bank numbers are masked in API responses.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warehouses &amp; costing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Weighted-average cost and controlled transfers</a:t>
            </a:r>
            <a:endParaRPr lang="en-US" sz="1300" dirty="0"/>
          </a:p>
        </p:txBody>
      </p:sp>
      <p:pic>
        <p:nvPicPr>
          <p:cNvPr id="6" name="Image 0" descr="C:\Users\HomePC\Documents\accounting_software\docs\presentations\assets\warehouse-sto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25880"/>
            <a:ext cx="402336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41732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has a main warehouse and an in-transit warehouse.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and returns recalculate branch weighted-average cost.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Transfers: draft → approve → ship → receive; company inventory total unchanged.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counts post shortages/surpluses through the journal.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Serial-tracked products need one in-stock serial per unit sold.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&amp; approvals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cannot approve; budgets can block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categories map to postable accounts (not inventory or fixed-asset accounts).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approve (different user) → pay (different user).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accrues expense; payment clears the accrual from cash.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can block approval when the month would go over the limit.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cover branch, category, department, project, and budget versus actual.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cash &amp; reconciliation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balances from journals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 and cash drawers map to GL accounts; book amounts come from posted lines.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transfers debit destination and credit source; later receipts use transfers in transit.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counts compare counted cash to the drawer; a different user posts differences.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book shows opening, receipts, payments, and closing.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import (CSV/manual), suggested matches, lock by a different user.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installation projects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Deposits, WIP, milestone recognition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store contract, quotation, and budget; profit and WIP come from journals.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issues (after approval) debit WIP and credit inventory for installations.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deposits credit advances — not revenue — and create an advance receipt.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invoices recognize revenue and a proportional share of WIP as cost.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lists project profitability inside the selected date range.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rows on screen, PDF, spreadsheet, and CSV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20440" cy="109728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956816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journal &amp; ledger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20440" cy="109728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62272" y="1956816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554480"/>
            <a:ext cx="3520440" cy="109728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956816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3520440" cy="109728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328416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926080"/>
            <a:ext cx="3520440" cy="109728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62272" y="3328416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(indirect)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926080"/>
            <a:ext cx="3520440" cy="109728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11312" y="3328416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AP ledgers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3520440" cy="109728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4700016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4297680"/>
            <a:ext cx="3520440" cy="109728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62272" y="4700016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4297680"/>
            <a:ext cx="3520440" cy="1097280"/>
          </a:xfrm>
          <a:prstGeom prst="roundRect">
            <a:avLst/>
          </a:prstGeom>
          <a:solidFill>
            <a:srgbClr val="143D66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11312" y="4700016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codes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closing &amp; fiscal periods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≠ preparer; lock after checklist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close stores sales, collections, expenses, exceptions, and cash difference for the branch day.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close moves open → closing → locked after checklist and a second person’s approval.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periods reject ordinary posting.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stores statement snapshots, closes income/expense to retained earnings, and opens the next year.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Reopening requires permission and a reason.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 salary accounting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payroll summaries through the posting 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 holds branch, department, and status — not salary amounts on the person record.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 enter approved external payroll summaries.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posts gross expense, deduction liabilities, and salaries payable (different approver).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settle one or more summaries against account 2300, including partial settlement.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payroll integrations must keep using the posting engine.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Administration, audit &amp; notifications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hub and immutable history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covers company profile, templates, account mappings, tax codes, periods, policies, delegations, and separation rules.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documents enforce MIME type, 2 MB size, and branch-aware access.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and configuration changes write redacted audit events.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 for approvals, overdue invoices, low stock, bills due, failed postings, and closing reminders.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import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CSV — unbalanced openings cannot commit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1554480" cy="109728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23225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233172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920240"/>
            <a:ext cx="1554480" cy="109728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23225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233172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2" name="Shape 10"/>
          <p:cNvSpPr/>
          <p:nvPr/>
        </p:nvSpPr>
        <p:spPr>
          <a:xfrm>
            <a:off x="3703320" y="1920240"/>
            <a:ext cx="1554480" cy="109728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76472" y="23225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233172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4960" y="1920240"/>
            <a:ext cx="1554480" cy="109728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23225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160" y="233172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1920240"/>
            <a:ext cx="1554480" cy="1097280"/>
          </a:xfrm>
          <a:prstGeom prst="round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9752" y="23225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0" y="233172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8240" y="1920240"/>
            <a:ext cx="1554480" cy="109728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51392" y="23225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78440" y="2331720"/>
            <a:ext cx="320040" cy="201168"/>
          </a:xfrm>
          <a:prstGeom prst="rightArrow">
            <a:avLst/>
          </a:prstGeom>
          <a:solidFill>
            <a:srgbClr val="1B6CA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69880" y="1920240"/>
            <a:ext cx="1554480" cy="1097280"/>
          </a:xfrm>
          <a:prstGeom prst="round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43032" y="23225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383280"/>
            <a:ext cx="11155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(customers, suppliers, products, CoA) create through domain services.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financials go through importOpeningBalances — not direct journal-line writes.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user must approve. Unbalanced trial balance / bank opening batches are rejected.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imports.view and imports.manage. Schema version 16.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production readiness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 plus a human checklist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security, April 2028 accounting scenario, and import pipeline packs.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dump/restore into a throwaway database with schema_version verified.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install, migrate, typecheck, tests, backup-restore.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reports BullMQ waiting/active/delayed/failed counts.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items remain open: accountant acceptance, independent report sign-off, secret rotation, production TLS.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compose, TLS, migrate-then-start</a:t>
            </a:r>
            <a:endParaRPr lang="en-US" sz="1300" dirty="0"/>
          </a:p>
        </p:txBody>
      </p:sp>
      <p:pic>
        <p:nvPicPr>
          <p:cNvPr id="6" name="Image 0" descr="C:\Users\HomePC\Documents\accounting_software\docs\presentations\assets\deployment-sta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02920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141732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docker-compose.prod.yml: Postgres (no published port by default), Redis, API production image, nginx web.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entrypoint runs prisma migrate deploy then starts Node.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terminates at nginx with mounted certificates.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COOKIE_SECURE with NODE_ENV=production.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scripts for Linux/macOS and Windows PowerShell.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Pino JSON logs for shipping.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roadmap 1–16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listed sections are complete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705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Foundation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705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Company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6792" y="1705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89720" y="1371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62872" y="1705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Posting engine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514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2848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Dashboard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2514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10712" y="2848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Sales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2514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36792" y="2848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Procurement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2514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62872" y="2848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Inventory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657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3991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Expenses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657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10712" y="3991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Banking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3657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36792" y="3991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Projects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89720" y="3657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62872" y="3991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Reports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800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" y="5134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Closing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4800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10712" y="5134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Payroll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800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36792" y="5134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Admin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89720" y="4800600"/>
            <a:ext cx="2743200" cy="960120"/>
          </a:xfrm>
          <a:prstGeom prst="round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50800" dist="12700" dir="162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262872" y="513435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Import &amp; deploy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55680" y="65653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omePC\Documents\accounting_software\docs\presentations\assets\hero-solar-busine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1–16 are in place. Section 17 has not started.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5943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Accounting · Confidential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Accounting System</dc:title>
  <dc:subject>Product and architecture overview — Sections 1–16</dc:subject>
  <dc:creator>Solar &amp; Inverter Co.</dc:creator>
  <cp:lastModifiedBy>Solar &amp; Inverter Co.</cp:lastModifiedBy>
  <cp:revision>1</cp:revision>
  <dcterms:created xsi:type="dcterms:W3CDTF">2026-10-10T18:29:18Z</dcterms:created>
  <dcterms:modified xsi:type="dcterms:W3CDTF">2026-10-10T18:29:18Z</dcterms:modified>
</cp:coreProperties>
</file>