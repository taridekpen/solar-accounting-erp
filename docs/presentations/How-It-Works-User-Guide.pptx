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172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HomePC\Documents\accounting_software\docs\presentations\assets\hero-solar-business.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3A">
              <a:alpha val="58000"/>
            </a:srgbClr>
          </a:solidFill>
          <a:ln/>
        </p:spPr>
      </p:sp>
      <p:sp>
        <p:nvSpPr>
          <p:cNvPr id="4" name="Text 1"/>
          <p:cNvSpPr/>
          <p:nvPr/>
        </p:nvSpPr>
        <p:spPr>
          <a:xfrm>
            <a:off x="640080" y="1828800"/>
            <a:ext cx="10972800" cy="54864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How the books work</a:t>
            </a:r>
            <a:endParaRPr lang="en-US" sz="3600" dirty="0"/>
          </a:p>
        </p:txBody>
      </p:sp>
      <p:sp>
        <p:nvSpPr>
          <p:cNvPr id="5" name="Text 2"/>
          <p:cNvSpPr/>
          <p:nvPr/>
        </p:nvSpPr>
        <p:spPr>
          <a:xfrm>
            <a:off x="640080" y="2514600"/>
            <a:ext cx="10972800" cy="777240"/>
          </a:xfrm>
          <a:prstGeom prst="rect">
            <a:avLst/>
          </a:prstGeom>
          <a:noFill/>
          <a:ln/>
        </p:spPr>
        <p:txBody>
          <a:bodyPr wrap="square" rtlCol="0" anchor="ctr"/>
          <a:lstStyle/>
          <a:p>
            <a:pPr marL="0" indent="0">
              <a:buNone/>
            </a:pPr>
            <a:r>
              <a:rPr lang="en-US" sz="1800" dirty="0">
                <a:solidFill>
                  <a:srgbClr val="D6E6F5"/>
                </a:solidFill>
                <a:latin typeface="Calibri" pitchFamily="34" charset="0"/>
                <a:ea typeface="Calibri" pitchFamily="34" charset="-122"/>
                <a:cs typeface="Calibri" pitchFamily="34" charset="-120"/>
              </a:rPr>
              <a:t>A guide for accountants — what the system does, how branches and head office work,</a:t>
            </a:r>
            <a:endParaRPr lang="en-US" sz="1800" dirty="0"/>
          </a:p>
          <a:p>
            <a:pPr marL="0" indent="0">
              <a:buNone/>
            </a:pPr>
            <a:r>
              <a:rPr lang="en-US" sz="1800" dirty="0">
                <a:solidFill>
                  <a:srgbClr val="D6E6F5"/>
                </a:solidFill>
                <a:latin typeface="Calibri" pitchFamily="34" charset="0"/>
                <a:ea typeface="Calibri" pitchFamily="34" charset="-122"/>
                <a:cs typeface="Calibri" pitchFamily="34" charset="-120"/>
              </a:rPr>
              <a:t>and how every module updates the ledgers</a:t>
            </a:r>
            <a:endParaRPr lang="en-US" sz="1800" dirty="0"/>
          </a:p>
        </p:txBody>
      </p:sp>
      <p:sp>
        <p:nvSpPr>
          <p:cNvPr id="6" name="Text 3"/>
          <p:cNvSpPr/>
          <p:nvPr/>
        </p:nvSpPr>
        <p:spPr>
          <a:xfrm>
            <a:off x="640080" y="5394960"/>
            <a:ext cx="10972800" cy="320040"/>
          </a:xfrm>
          <a:prstGeom prst="rect">
            <a:avLst/>
          </a:prstGeom>
          <a:noFill/>
          <a:ln/>
        </p:spPr>
        <p:txBody>
          <a:bodyPr wrap="square" rtlCol="0" anchor="ctr"/>
          <a:lstStyle/>
          <a:p>
            <a:pPr marL="0" indent="0">
              <a:buNone/>
            </a:pPr>
            <a:r>
              <a:rPr lang="en-US" sz="1400" dirty="0">
                <a:solidFill>
                  <a:srgbClr val="B8C9DC"/>
                </a:solidFill>
                <a:latin typeface="Calibri" pitchFamily="34" charset="0"/>
                <a:ea typeface="Calibri" pitchFamily="34" charset="-122"/>
                <a:cs typeface="Calibri" pitchFamily="34" charset="-120"/>
              </a:rPr>
              <a:t>Solar &amp; Inverter Co. · One company · Many branches · Nigerian Naira (NGN)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this system is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End-to-end books for a solar and inverter business</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One platform for trading panels, inverters, and accessories, plus installation projects.</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Covers the full finance cycle: sales and collections, purchasing and payments, inventory costing, expenses, banking, payroll summaries, period close, and management reports.</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Every naira that moves through operations is recorded as a balanced journal in the general ledger.</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Dashboard totals, aging, trial balance, profit and loss, and balance sheet all read from those posted journals — not from separate spreadsheet figures.</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Designed so branch staff process documents while accountants control the books, approvals, and period locks.</a:t>
            </a:r>
            <a:endParaRPr lang="en-US" sz="15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Who uses what</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Menus and actions follow each person’s role</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Typical roles</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you see</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Sales / cashier — quotations, invoices, receipts at their branch.</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Branch manager — approvals within the branch purchase limit; daily close review.</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Procurement — requisitions, purchase orders, goods receipts, supplier bills.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Accountant — journals, reports, banking, payroll summaries, period close.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Auditor — read-only review of books, imports, and audit history.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Company admin — users, branches, mappings, company settings.</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The sidebar only lists modules your role may open.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You cannot approve your own expense or requisition when dual control applies.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Company-wide roles can work across all branches; others stay within assigned branches.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Sensitive supplier bank details show only the last four digits.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If a menu item is missing, your role was not given that permission.</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Head office vs branches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One legal company; many operating locations</a:t>
            </a:r>
            <a:endParaRPr lang="en-US" sz="1200" dirty="0"/>
          </a:p>
        </p:txBody>
      </p:sp>
      <p:pic>
        <p:nvPicPr>
          <p:cNvPr id="6" name="Image 0" descr="C:\Users\HomePC\Documents\accounting_software\docs\presentations\assets\multi-branch-org.jpg"/>
          <p:cNvPicPr>
            <a:picLocks noChangeAspect="1"/>
          </p:cNvPicPr>
          <p:nvPr/>
        </p:nvPicPr>
        <p:blipFill>
          <a:blip r:embed="rId3"/>
          <a:stretch>
            <a:fillRect/>
          </a:stretch>
        </p:blipFill>
        <p:spPr>
          <a:xfrm>
            <a:off x="6634480" y="1280160"/>
            <a:ext cx="5161280" cy="4378960"/>
          </a:xfrm>
          <a:prstGeom prst="rect">
            <a:avLst/>
          </a:prstGeom>
        </p:spPr>
      </p:pic>
      <p:sp>
        <p:nvSpPr>
          <p:cNvPr id="7" name="Text 4"/>
          <p:cNvSpPr/>
          <p:nvPr/>
        </p:nvSpPr>
        <p:spPr>
          <a:xfrm>
            <a:off x="457200" y="1234440"/>
            <a:ext cx="5547360" cy="4937760"/>
          </a:xfrm>
          <a:prstGeom prst="rect">
            <a:avLst/>
          </a:prstGeom>
          <a:noFill/>
          <a:ln/>
        </p:spPr>
        <p:txBody>
          <a:bodyPr wrap="square" rtlCol="0" anchor="t"/>
          <a:lstStyle/>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There is one company entity. Branches are operating units (shops, warehouses, head office), not separate legal companies.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Head office (and company-wide roles) can see and approve across the whole company when their role allows it.</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Branch users are assigned to one or more branches. They cannot open another branch’s customers, stock, or journals.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Departments and employees sit under the company and are linked to branches for reporting and payroll context.</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Deactivating a branch stops new work there but keeps history readable for assigned users.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Central procurement and large approvals typically require a company-wide approver.</a:t>
            </a:r>
            <a:endParaRPr lang="en-US" sz="1300" dirty="0"/>
          </a:p>
        </p:txBody>
      </p:sp>
      <p:sp>
        <p:nvSpPr>
          <p:cNvPr id="8" name="Shape 5"/>
          <p:cNvSpPr/>
          <p:nvPr/>
        </p:nvSpPr>
        <p:spPr>
          <a:xfrm>
            <a:off x="0" y="6537960"/>
            <a:ext cx="12191695" cy="320040"/>
          </a:xfrm>
          <a:prstGeom prst="rect">
            <a:avLst/>
          </a:prstGeom>
          <a:solidFill>
            <a:srgbClr val="0B1F3A"/>
          </a:solidFill>
          <a:ln/>
        </p:spPr>
      </p:sp>
      <p:sp>
        <p:nvSpPr>
          <p:cNvPr id="9"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0"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Working in branch context</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The header filter shapes every screen and report</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At the top of the app, choose All branches, one branch, or several of your assigned branches.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Dashboard, sales, stock, expenses, banking, projects, and reports all follow that selection.</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Choosing one branch means you only see that branch’s documents, stock, and journal lines.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Choosing several branches combines those branches for comparison without including locations you did not select.</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Company-wide users may start with all branches, then narrow the view when they want a single location’s pack.</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Branch-restricted users never expand beyond their assignments — the filter can only narrow what they already may see.</a:t>
            </a:r>
            <a:endParaRPr lang="en-US" sz="14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Money rules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Naira amounts stay exact from document to ledger</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How amounts work</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this protects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Currency is Nigerian Naira (NGN).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Totals, tax, discounts, and costs are calculated by the system when you finalize or approve — not typed as free-form “guess” totals on the screen.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Printed invoices, PDFs, and on-screen reports use the same calculated figures.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Dashboard cards show four-decimal strings so nothing is rounded away silently.</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Branch A’s sale cannot change Branch B’s cash or stock.</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receipt that settles an invoice does not post revenue a second time.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With no posted journals, every total stays zero — the system never invents sample profit.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Opening stock must reconcile quantity and value to the inventory control account.</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accounting engine</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One path for every movement of money and cost</a:t>
            </a:r>
            <a:endParaRPr lang="en-US" sz="1200" dirty="0"/>
          </a:p>
        </p:txBody>
      </p:sp>
      <p:pic>
        <p:nvPicPr>
          <p:cNvPr id="6" name="Image 0" descr="C:\Users\HomePC\Documents\accounting_software\docs\presentations\assets\posting-engine.jpg"/>
          <p:cNvPicPr>
            <a:picLocks noChangeAspect="1"/>
          </p:cNvPicPr>
          <p:nvPr/>
        </p:nvPicPr>
        <p:blipFill>
          <a:blip r:embed="rId3"/>
          <a:stretch>
            <a:fillRect/>
          </a:stretch>
        </p:blipFill>
        <p:spPr>
          <a:xfrm>
            <a:off x="6004560" y="1252728"/>
            <a:ext cx="6024880" cy="4013200"/>
          </a:xfrm>
          <a:prstGeom prst="rect">
            <a:avLst/>
          </a:prstGeom>
        </p:spPr>
      </p:pic>
      <p:sp>
        <p:nvSpPr>
          <p:cNvPr id="7" name="Text 4"/>
          <p:cNvSpPr/>
          <p:nvPr/>
        </p:nvSpPr>
        <p:spPr>
          <a:xfrm>
            <a:off x="457200" y="1234440"/>
            <a:ext cx="5547360" cy="4937760"/>
          </a:xfrm>
          <a:prstGeom prst="rect">
            <a:avLst/>
          </a:prstGeom>
          <a:noFill/>
          <a:ln/>
        </p:spPr>
        <p:txBody>
          <a:bodyPr wrap="square" rtlCol="0" anchor="t"/>
          <a:lstStyle/>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Sales, purchases, expenses, banking, projects, payroll summaries, fixed assets, and opening imports all post through the same accounting engine.</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Modules prepare the business document; the engine writes the balanced debit and credit lines.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No module is allowed to edit ledger lines on its own — that keeps the trial balance trustworthy.</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Account balances, aging control accounts, and management reports are built from posted journal lines only.</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If a posting fails (closed period, unbalanced opening, missing mapping), the document does not silently leave half-updated books.</a:t>
            </a:r>
            <a:endParaRPr lang="en-US" sz="1400" dirty="0"/>
          </a:p>
        </p:txBody>
      </p:sp>
      <p:sp>
        <p:nvSpPr>
          <p:cNvPr id="8" name="Shape 5"/>
          <p:cNvSpPr/>
          <p:nvPr/>
        </p:nvSpPr>
        <p:spPr>
          <a:xfrm>
            <a:off x="0" y="6537960"/>
            <a:ext cx="12191695" cy="320040"/>
          </a:xfrm>
          <a:prstGeom prst="rect">
            <a:avLst/>
          </a:prstGeom>
          <a:solidFill>
            <a:srgbClr val="0B1F3A"/>
          </a:solidFill>
          <a:ln/>
        </p:spPr>
      </p:sp>
      <p:sp>
        <p:nvSpPr>
          <p:cNvPr id="9"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0"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Journal rules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Posted history is permanent</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After a journal is posted</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Fiscal periods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It cannot be edited or deleted.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To correct a mistake, post a reversal journal that preserves the original.</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The same journal cannot be reversed twice.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Document numbers stay unique so each invoice, receipt, or bill remains traceable.</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Periods for the current year start open.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closed period rejects ordinary posting.</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Only an approved closed-period adjustment may post into a closed period.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Year-end close can roll income and expense into retained earnings and open the next year after statements are stored.</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Chart of accounts and mappings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Which accounts move for each business event</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The company starts with a seeded chart of accounts (cash, bank, AR, inventory, AP, revenue, cost of sales, expenses, salaries payable, and more).</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Accounting mappings tell the engine which accounts to debit and credit for each event — for example cash sale, credit sale, cost of sales, customer receipt, goods receipt, supplier bill, expense, bank transfer, salary accrual, depreciation.</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Expense categories must map to postable expense accounts — not inventory or fixed-asset accounts.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Bank accounts each link to a general ledger cash or bank account so book balances match the ledger.</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Tax codes carry effective dates; a tax payment outside those dates is rejected.</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Accountants maintain mappings and the chart carefully — wrong mappings mean wrong books even when staff follow the right workflow.</a:t>
            </a:r>
            <a:endParaRPr lang="en-US" sz="13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Lifecycle of a posting</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From business action to updated platform</a:t>
            </a:r>
            <a:endParaRPr lang="en-US" sz="1200" dirty="0"/>
          </a:p>
        </p:txBody>
      </p:sp>
      <p:sp>
        <p:nvSpPr>
          <p:cNvPr id="6" name="Shape 4"/>
          <p:cNvSpPr/>
          <p:nvPr/>
        </p:nvSpPr>
        <p:spPr>
          <a:xfrm>
            <a:off x="540868" y="1417320"/>
            <a:ext cx="1965960" cy="960120"/>
          </a:xfrm>
          <a:prstGeom prst="roundRect">
            <a:avLst/>
          </a:prstGeom>
          <a:solidFill>
            <a:srgbClr val="1B6CA8"/>
          </a:solidFill>
          <a:ln/>
        </p:spPr>
      </p:sp>
      <p:sp>
        <p:nvSpPr>
          <p:cNvPr id="7" name="Text 5"/>
          <p:cNvSpPr/>
          <p:nvPr/>
        </p:nvSpPr>
        <p:spPr>
          <a:xfrm>
            <a:off x="586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Document ready</a:t>
            </a:r>
            <a:endParaRPr lang="en-US" sz="1100" dirty="0"/>
          </a:p>
        </p:txBody>
      </p:sp>
      <p:sp>
        <p:nvSpPr>
          <p:cNvPr id="8" name="Shape 6"/>
          <p:cNvSpPr/>
          <p:nvPr/>
        </p:nvSpPr>
        <p:spPr>
          <a:xfrm>
            <a:off x="2552548" y="1783080"/>
            <a:ext cx="228600" cy="201168"/>
          </a:xfrm>
          <a:prstGeom prst="rightArrow">
            <a:avLst/>
          </a:prstGeom>
          <a:solidFill>
            <a:srgbClr val="1B6CA8"/>
          </a:solidFill>
          <a:ln/>
        </p:spPr>
      </p:sp>
      <p:sp>
        <p:nvSpPr>
          <p:cNvPr id="9" name="Shape 7"/>
          <p:cNvSpPr/>
          <p:nvPr/>
        </p:nvSpPr>
        <p:spPr>
          <a:xfrm>
            <a:off x="2826868" y="1417320"/>
            <a:ext cx="1965960" cy="960120"/>
          </a:xfrm>
          <a:prstGeom prst="roundRect">
            <a:avLst/>
          </a:prstGeom>
          <a:solidFill>
            <a:srgbClr val="0B1F3A"/>
          </a:solidFill>
          <a:ln/>
        </p:spPr>
      </p:sp>
      <p:sp>
        <p:nvSpPr>
          <p:cNvPr id="10" name="Text 8"/>
          <p:cNvSpPr/>
          <p:nvPr/>
        </p:nvSpPr>
        <p:spPr>
          <a:xfrm>
            <a:off x="2872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Approve / finalize</a:t>
            </a:r>
            <a:endParaRPr lang="en-US" sz="1100" dirty="0"/>
          </a:p>
        </p:txBody>
      </p:sp>
      <p:sp>
        <p:nvSpPr>
          <p:cNvPr id="11" name="Shape 9"/>
          <p:cNvSpPr/>
          <p:nvPr/>
        </p:nvSpPr>
        <p:spPr>
          <a:xfrm>
            <a:off x="4838548" y="1783080"/>
            <a:ext cx="228600" cy="201168"/>
          </a:xfrm>
          <a:prstGeom prst="rightArrow">
            <a:avLst/>
          </a:prstGeom>
          <a:solidFill>
            <a:srgbClr val="1B6CA8"/>
          </a:solidFill>
          <a:ln/>
        </p:spPr>
      </p:sp>
      <p:sp>
        <p:nvSpPr>
          <p:cNvPr id="12" name="Shape 10"/>
          <p:cNvSpPr/>
          <p:nvPr/>
        </p:nvSpPr>
        <p:spPr>
          <a:xfrm>
            <a:off x="5112868" y="1417320"/>
            <a:ext cx="1965960" cy="960120"/>
          </a:xfrm>
          <a:prstGeom prst="roundRect">
            <a:avLst/>
          </a:prstGeom>
          <a:solidFill>
            <a:srgbClr val="0B1F3A"/>
          </a:solidFill>
          <a:ln/>
        </p:spPr>
      </p:sp>
      <p:sp>
        <p:nvSpPr>
          <p:cNvPr id="13" name="Text 11"/>
          <p:cNvSpPr/>
          <p:nvPr/>
        </p:nvSpPr>
        <p:spPr>
          <a:xfrm>
            <a:off x="5158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Balanced journal</a:t>
            </a:r>
            <a:endParaRPr lang="en-US" sz="1100" dirty="0"/>
          </a:p>
        </p:txBody>
      </p:sp>
      <p:sp>
        <p:nvSpPr>
          <p:cNvPr id="14" name="Shape 12"/>
          <p:cNvSpPr/>
          <p:nvPr/>
        </p:nvSpPr>
        <p:spPr>
          <a:xfrm>
            <a:off x="7124548" y="1783080"/>
            <a:ext cx="228600" cy="201168"/>
          </a:xfrm>
          <a:prstGeom prst="rightArrow">
            <a:avLst/>
          </a:prstGeom>
          <a:solidFill>
            <a:srgbClr val="1B6CA8"/>
          </a:solidFill>
          <a:ln/>
        </p:spPr>
      </p:sp>
      <p:sp>
        <p:nvSpPr>
          <p:cNvPr id="15" name="Shape 13"/>
          <p:cNvSpPr/>
          <p:nvPr/>
        </p:nvSpPr>
        <p:spPr>
          <a:xfrm>
            <a:off x="7398868" y="1417320"/>
            <a:ext cx="1965960" cy="960120"/>
          </a:xfrm>
          <a:prstGeom prst="roundRect">
            <a:avLst/>
          </a:prstGeom>
          <a:solidFill>
            <a:srgbClr val="0B1F3A"/>
          </a:solidFill>
          <a:ln/>
        </p:spPr>
      </p:sp>
      <p:sp>
        <p:nvSpPr>
          <p:cNvPr id="16" name="Text 14"/>
          <p:cNvSpPr/>
          <p:nvPr/>
        </p:nvSpPr>
        <p:spPr>
          <a:xfrm>
            <a:off x="7444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Stock if needed</a:t>
            </a:r>
            <a:endParaRPr lang="en-US" sz="1100" dirty="0"/>
          </a:p>
        </p:txBody>
      </p:sp>
      <p:sp>
        <p:nvSpPr>
          <p:cNvPr id="17" name="Shape 15"/>
          <p:cNvSpPr/>
          <p:nvPr/>
        </p:nvSpPr>
        <p:spPr>
          <a:xfrm>
            <a:off x="9410548" y="1783080"/>
            <a:ext cx="228600" cy="201168"/>
          </a:xfrm>
          <a:prstGeom prst="rightArrow">
            <a:avLst/>
          </a:prstGeom>
          <a:solidFill>
            <a:srgbClr val="1B6CA8"/>
          </a:solidFill>
          <a:ln/>
        </p:spPr>
      </p:sp>
      <p:sp>
        <p:nvSpPr>
          <p:cNvPr id="18" name="Shape 16"/>
          <p:cNvSpPr/>
          <p:nvPr/>
        </p:nvSpPr>
        <p:spPr>
          <a:xfrm>
            <a:off x="9684868" y="1417320"/>
            <a:ext cx="1965960" cy="960120"/>
          </a:xfrm>
          <a:prstGeom prst="roundRect">
            <a:avLst/>
          </a:prstGeom>
          <a:solidFill>
            <a:srgbClr val="0B1F3A"/>
          </a:solidFill>
          <a:ln/>
        </p:spPr>
      </p:sp>
      <p:sp>
        <p:nvSpPr>
          <p:cNvPr id="19" name="Text 17"/>
          <p:cNvSpPr/>
          <p:nvPr/>
        </p:nvSpPr>
        <p:spPr>
          <a:xfrm>
            <a:off x="9730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Reports refresh</a:t>
            </a:r>
            <a:endParaRPr lang="en-US" sz="1100" dirty="0"/>
          </a:p>
        </p:txBody>
      </p:sp>
      <p:sp>
        <p:nvSpPr>
          <p:cNvPr id="20" name="Text 18"/>
          <p:cNvSpPr/>
          <p:nvPr/>
        </p:nvSpPr>
        <p:spPr>
          <a:xfrm>
            <a:off x="457200" y="2651760"/>
            <a:ext cx="11247120" cy="4937760"/>
          </a:xfrm>
          <a:prstGeom prst="rect">
            <a:avLst/>
          </a:prstGeom>
          <a:noFill/>
          <a:ln/>
        </p:spPr>
        <p:txBody>
          <a:bodyPr wrap="square" rtlCol="0" anchor="t"/>
          <a:lstStyle/>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Staff create a draft (invoice, goods receipt, expense, transfer, payroll summary, and so on).</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When the document is finalized or approved (often by a second person), the engine builds balanced debit and credit lines.</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The ledger updates immediately; related stock movements happen in the same business step when inventory is involved.</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Dashboard KPIs, aging, trial balance, P&amp;L, and balance sheet recalculate from the new posted lines the next time you open them.</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Audit history records who changed company settings, mappings, and other controlled configuration.</a:t>
            </a:r>
            <a:endParaRPr lang="en-US" sz="1300" dirty="0"/>
          </a:p>
        </p:txBody>
      </p:sp>
      <p:sp>
        <p:nvSpPr>
          <p:cNvPr id="21" name="Shape 19"/>
          <p:cNvSpPr/>
          <p:nvPr/>
        </p:nvSpPr>
        <p:spPr>
          <a:xfrm>
            <a:off x="0" y="6537960"/>
            <a:ext cx="12191695" cy="320040"/>
          </a:xfrm>
          <a:prstGeom prst="rect">
            <a:avLst/>
          </a:prstGeom>
          <a:solidFill>
            <a:srgbClr val="0B1F3A"/>
          </a:solidFill>
          <a:ln/>
        </p:spPr>
      </p:sp>
      <p:sp>
        <p:nvSpPr>
          <p:cNvPr id="22" name="Text 20"/>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23" name="Text 21"/>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Dashboard</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Live picture of the books for your branch filter and dates</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What you do</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updates / what you see</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Open Dashboard after sign-in.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Pick a date preset or custom range (month, period, and so on).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Set the branch filter to one location, several, or all you may see.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Open a KPI card to see the journal lines behind that total.</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Review charts for revenue, expenses, branch sales/profit, and cash movement.</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Sales, purchases, gross profit, expenses, cash, receivables, payables, and inventory valuation come from posted journals.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Net profit = revenue − cost of sales − operating expenses from those lines.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Empty books show zeros — never placeholder profit.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Pending approvals point you to the accounting review queue.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Changing branch or dates refreshes every card to match that scope.</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Customers and sales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From quotation to cash without double-counting revenue</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What you do</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updates in the books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Maintain customers (company-wide masters, linked to branches).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Raise quotations (no revenue yet). Accept into a draft invoice when ready.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Finalize a cash or credit invoice for the selling branch.</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Collect a receipt and allocate it to invoices or record a customer advance.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Issue credit notes when goods or charges must be reversed.</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Finalize posts one journal: revenue (+ tax if applicable) and AR or cash/bank.</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Product lines issue stock and post cost of sales at weighted-average cost (or catalog cost if average is still zero).</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Receipt settles AR or credits customer advances — it does not post revenue again.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Credit notes reverse revenue, tax, and inventory cost at the original line cost.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Customer statements, aging, and product rankings follow posted sales documents.</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Suppliers and purchases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Order → receive → bill → pay</a:t>
            </a:r>
            <a:endParaRPr lang="en-US" sz="1200" dirty="0"/>
          </a:p>
        </p:txBody>
      </p:sp>
      <p:sp>
        <p:nvSpPr>
          <p:cNvPr id="6" name="Shape 4"/>
          <p:cNvSpPr/>
          <p:nvPr/>
        </p:nvSpPr>
        <p:spPr>
          <a:xfrm>
            <a:off x="540868" y="1325880"/>
            <a:ext cx="1965960" cy="960120"/>
          </a:xfrm>
          <a:prstGeom prst="roundRect">
            <a:avLst/>
          </a:prstGeom>
          <a:solidFill>
            <a:srgbClr val="1B6CA8"/>
          </a:solidFill>
          <a:ln/>
        </p:spPr>
      </p:sp>
      <p:sp>
        <p:nvSpPr>
          <p:cNvPr id="7" name="Text 5"/>
          <p:cNvSpPr/>
          <p:nvPr/>
        </p:nvSpPr>
        <p:spPr>
          <a:xfrm>
            <a:off x="586588" y="158191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Requisition / PO</a:t>
            </a:r>
            <a:endParaRPr lang="en-US" sz="1100" dirty="0"/>
          </a:p>
        </p:txBody>
      </p:sp>
      <p:sp>
        <p:nvSpPr>
          <p:cNvPr id="8" name="Shape 6"/>
          <p:cNvSpPr/>
          <p:nvPr/>
        </p:nvSpPr>
        <p:spPr>
          <a:xfrm>
            <a:off x="2552548" y="1691640"/>
            <a:ext cx="228600" cy="201168"/>
          </a:xfrm>
          <a:prstGeom prst="rightArrow">
            <a:avLst/>
          </a:prstGeom>
          <a:solidFill>
            <a:srgbClr val="1B6CA8"/>
          </a:solidFill>
          <a:ln/>
        </p:spPr>
      </p:sp>
      <p:sp>
        <p:nvSpPr>
          <p:cNvPr id="9" name="Shape 7"/>
          <p:cNvSpPr/>
          <p:nvPr/>
        </p:nvSpPr>
        <p:spPr>
          <a:xfrm>
            <a:off x="2826868" y="1325880"/>
            <a:ext cx="1965960" cy="960120"/>
          </a:xfrm>
          <a:prstGeom prst="roundRect">
            <a:avLst/>
          </a:prstGeom>
          <a:solidFill>
            <a:srgbClr val="0B1F3A"/>
          </a:solidFill>
          <a:ln/>
        </p:spPr>
      </p:sp>
      <p:sp>
        <p:nvSpPr>
          <p:cNvPr id="10" name="Text 8"/>
          <p:cNvSpPr/>
          <p:nvPr/>
        </p:nvSpPr>
        <p:spPr>
          <a:xfrm>
            <a:off x="2872588" y="158191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Approve</a:t>
            </a:r>
            <a:endParaRPr lang="en-US" sz="1100" dirty="0"/>
          </a:p>
        </p:txBody>
      </p:sp>
      <p:sp>
        <p:nvSpPr>
          <p:cNvPr id="11" name="Shape 9"/>
          <p:cNvSpPr/>
          <p:nvPr/>
        </p:nvSpPr>
        <p:spPr>
          <a:xfrm>
            <a:off x="4838548" y="1691640"/>
            <a:ext cx="228600" cy="201168"/>
          </a:xfrm>
          <a:prstGeom prst="rightArrow">
            <a:avLst/>
          </a:prstGeom>
          <a:solidFill>
            <a:srgbClr val="1B6CA8"/>
          </a:solidFill>
          <a:ln/>
        </p:spPr>
      </p:sp>
      <p:sp>
        <p:nvSpPr>
          <p:cNvPr id="12" name="Shape 10"/>
          <p:cNvSpPr/>
          <p:nvPr/>
        </p:nvSpPr>
        <p:spPr>
          <a:xfrm>
            <a:off x="5112868" y="1325880"/>
            <a:ext cx="1965960" cy="960120"/>
          </a:xfrm>
          <a:prstGeom prst="roundRect">
            <a:avLst/>
          </a:prstGeom>
          <a:solidFill>
            <a:srgbClr val="0B1F3A"/>
          </a:solidFill>
          <a:ln/>
        </p:spPr>
      </p:sp>
      <p:sp>
        <p:nvSpPr>
          <p:cNvPr id="13" name="Text 11"/>
          <p:cNvSpPr/>
          <p:nvPr/>
        </p:nvSpPr>
        <p:spPr>
          <a:xfrm>
            <a:off x="5158588" y="158191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Goods receipt</a:t>
            </a:r>
            <a:endParaRPr lang="en-US" sz="1100" dirty="0"/>
          </a:p>
        </p:txBody>
      </p:sp>
      <p:sp>
        <p:nvSpPr>
          <p:cNvPr id="14" name="Shape 12"/>
          <p:cNvSpPr/>
          <p:nvPr/>
        </p:nvSpPr>
        <p:spPr>
          <a:xfrm>
            <a:off x="7124548" y="1691640"/>
            <a:ext cx="228600" cy="201168"/>
          </a:xfrm>
          <a:prstGeom prst="rightArrow">
            <a:avLst/>
          </a:prstGeom>
          <a:solidFill>
            <a:srgbClr val="1B6CA8"/>
          </a:solidFill>
          <a:ln/>
        </p:spPr>
      </p:sp>
      <p:sp>
        <p:nvSpPr>
          <p:cNvPr id="15" name="Shape 13"/>
          <p:cNvSpPr/>
          <p:nvPr/>
        </p:nvSpPr>
        <p:spPr>
          <a:xfrm>
            <a:off x="7398868" y="1325880"/>
            <a:ext cx="1965960" cy="960120"/>
          </a:xfrm>
          <a:prstGeom prst="roundRect">
            <a:avLst/>
          </a:prstGeom>
          <a:solidFill>
            <a:srgbClr val="0B1F3A"/>
          </a:solidFill>
          <a:ln/>
        </p:spPr>
      </p:sp>
      <p:sp>
        <p:nvSpPr>
          <p:cNvPr id="16" name="Text 14"/>
          <p:cNvSpPr/>
          <p:nvPr/>
        </p:nvSpPr>
        <p:spPr>
          <a:xfrm>
            <a:off x="7444588" y="158191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Supplier bill</a:t>
            </a:r>
            <a:endParaRPr lang="en-US" sz="1100" dirty="0"/>
          </a:p>
        </p:txBody>
      </p:sp>
      <p:sp>
        <p:nvSpPr>
          <p:cNvPr id="17" name="Shape 15"/>
          <p:cNvSpPr/>
          <p:nvPr/>
        </p:nvSpPr>
        <p:spPr>
          <a:xfrm>
            <a:off x="9410548" y="1691640"/>
            <a:ext cx="228600" cy="201168"/>
          </a:xfrm>
          <a:prstGeom prst="rightArrow">
            <a:avLst/>
          </a:prstGeom>
          <a:solidFill>
            <a:srgbClr val="1B6CA8"/>
          </a:solidFill>
          <a:ln/>
        </p:spPr>
      </p:sp>
      <p:sp>
        <p:nvSpPr>
          <p:cNvPr id="18" name="Shape 16"/>
          <p:cNvSpPr/>
          <p:nvPr/>
        </p:nvSpPr>
        <p:spPr>
          <a:xfrm>
            <a:off x="9684868" y="1325880"/>
            <a:ext cx="1965960" cy="960120"/>
          </a:xfrm>
          <a:prstGeom prst="roundRect">
            <a:avLst/>
          </a:prstGeom>
          <a:solidFill>
            <a:srgbClr val="0B1F3A"/>
          </a:solidFill>
          <a:ln/>
        </p:spPr>
      </p:sp>
      <p:sp>
        <p:nvSpPr>
          <p:cNvPr id="19" name="Text 17"/>
          <p:cNvSpPr/>
          <p:nvPr/>
        </p:nvSpPr>
        <p:spPr>
          <a:xfrm>
            <a:off x="9730588" y="158191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Payment</a:t>
            </a:r>
            <a:endParaRPr lang="en-US" sz="1100" dirty="0"/>
          </a:p>
        </p:txBody>
      </p:sp>
      <p:sp>
        <p:nvSpPr>
          <p:cNvPr id="20" name="Text 18"/>
          <p:cNvSpPr/>
          <p:nvPr/>
        </p:nvSpPr>
        <p:spPr>
          <a:xfrm>
            <a:off x="457200" y="2514600"/>
            <a:ext cx="11247120" cy="493776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Requisition or PO: dual control; branch approvers up to the company purchase limit; larger amounts need a company-wide approver. A PO does not post a journal.</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Goods receipt: stock rises at the branch main warehouse; inventory is debited against Goods Received Not Invoiced (GRNI).</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Supplier bill: clears the GRNI accrual, records price differences, and creates Accounts Payable (with tax where mapped).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Payment: settles bills or records a supplier deposit from cash/bank — AP aging and cash movement update together.</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Supplier statements and dashboard payable aging come from posted bills, not from open POs alone.</a:t>
            </a:r>
            <a:endParaRPr lang="en-US" sz="1200" dirty="0"/>
          </a:p>
        </p:txBody>
      </p:sp>
      <p:sp>
        <p:nvSpPr>
          <p:cNvPr id="21" name="Shape 19"/>
          <p:cNvSpPr/>
          <p:nvPr/>
        </p:nvSpPr>
        <p:spPr>
          <a:xfrm>
            <a:off x="0" y="6537960"/>
            <a:ext cx="12191695" cy="320040"/>
          </a:xfrm>
          <a:prstGeom prst="rect">
            <a:avLst/>
          </a:prstGeom>
          <a:solidFill>
            <a:srgbClr val="0B1F3A"/>
          </a:solidFill>
          <a:ln/>
        </p:spPr>
      </p:sp>
      <p:sp>
        <p:nvSpPr>
          <p:cNvPr id="22" name="Text 20"/>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23" name="Text 21"/>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Inventory, warehouses, and costing</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Where stock sits and what it costs</a:t>
            </a:r>
            <a:endParaRPr lang="en-US" sz="1200" dirty="0"/>
          </a:p>
        </p:txBody>
      </p:sp>
      <p:pic>
        <p:nvPicPr>
          <p:cNvPr id="6" name="Image 0" descr="C:\Users\HomePC\Documents\accounting_software\docs\presentations\assets\warehouse-stock.jpg"/>
          <p:cNvPicPr>
            <a:picLocks noChangeAspect="1"/>
          </p:cNvPicPr>
          <p:nvPr/>
        </p:nvPicPr>
        <p:blipFill>
          <a:blip r:embed="rId3"/>
          <a:stretch>
            <a:fillRect/>
          </a:stretch>
        </p:blipFill>
        <p:spPr>
          <a:xfrm>
            <a:off x="7863840" y="1280160"/>
            <a:ext cx="3931920" cy="4937760"/>
          </a:xfrm>
          <a:prstGeom prst="rect">
            <a:avLst/>
          </a:prstGeom>
        </p:spPr>
      </p:pic>
      <p:sp>
        <p:nvSpPr>
          <p:cNvPr id="7" name="Text 4"/>
          <p:cNvSpPr/>
          <p:nvPr/>
        </p:nvSpPr>
        <p:spPr>
          <a:xfrm>
            <a:off x="457200" y="1234440"/>
            <a:ext cx="7132320" cy="493776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Each branch has a main warehouse and an in-transit warehouse. Sellable quantity is the branch balance excluding stock still in transit.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Receipts, openings, and customer returns recalculate branch weighted-average cost used on the next sale’s cost of sales.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Inter-branch transfer: draft → approve (different user) → ship → receive. Shipping moves value to Inventory in Transit; receiving lands it at the destination. Company inventory total is unchanged.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Stock count: book quantity is recorded; a different user posts variance (shortage to expense, surplus to income) against inventory.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Serial-tracked items need one in-stock serial at the selling branch per unit; the same serial cannot be sold twice.</a:t>
            </a:r>
            <a:endParaRPr lang="en-US" sz="1200" dirty="0"/>
          </a:p>
        </p:txBody>
      </p:sp>
      <p:sp>
        <p:nvSpPr>
          <p:cNvPr id="8" name="Shape 5"/>
          <p:cNvSpPr/>
          <p:nvPr/>
        </p:nvSpPr>
        <p:spPr>
          <a:xfrm>
            <a:off x="0" y="6537960"/>
            <a:ext cx="12191695" cy="320040"/>
          </a:xfrm>
          <a:prstGeom prst="rect">
            <a:avLst/>
          </a:prstGeom>
          <a:solidFill>
            <a:srgbClr val="0B1F3A"/>
          </a:solidFill>
          <a:ln/>
        </p:spPr>
      </p:sp>
      <p:sp>
        <p:nvSpPr>
          <p:cNvPr id="9"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0"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Expenses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Dual control, budgets, then the ledger</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What you do</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updates in the books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Create a draft with category, branch, amount, and receipt details.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Submit for approval — the creator cannot approve their own claim.</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Branch approvers work within the purchase limit; larger amounts need company-wide approval.</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later approval level, when required, must be a different person.</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different user pays an approved expense from a cash or bank account.</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Approval debits the expense category and credits accrued expenses (tax may debit prepaid tax).</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Rejection posts nothing.</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Payment clears the accrual from cash/bank; a second payment is blocked.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monthly budget can block approval when the category would overspend.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Reports cover branch, category, department, project, pending, unpaid, and budget versus actual.</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Banking and cash</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Book balance, transfers, statements, and lock</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What you do</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updates in the books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Maintain bank accounts and cash drawers linked to ledger accounts.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Record same-day transfers/deposits or later-dated transfers that use Bank Transfers in Transit.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Import or enter statement lines; accept suggested matches or match by hand.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Post bank charges and interest when they appear on the statement.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Have a different user lock the statement when reconciliation is complete.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Cash count: compare counted cash to the drawer; another user posts shortage or overage.</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Book balances are calculated only from posted cash and bank journal lines.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Transfers move value between asset accounts — they do not hit income or expense.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Charges and interest post through the engine to the mapped accounts.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locked statement rejects further changes.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Cash book shows opening, receipts, payments, and closing for the selected scope.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Matching does not change invoice status by itself — receipts and payments do.</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Installation projects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Contract, materials, revenue, and WIP</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What you do</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updates in the books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Open a project with contract value, quotation link, and budget.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Reserve materials, then have a different user approve the issue.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Take customer deposits against the project.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Raise milestone invoices as work is recognized.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Link expenses to the project when they belong in WIP.</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Installation issues debit work in progress and credit inventory; maintenance can debit installation cost immediately.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Returns put quantity back at the issued cost.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Deposits debit cash/bank and credit customer advances — not revenue.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Milestone invoices debit AR and credit installation/maintenance revenue; cost is recognized from remaining WIP in proportion to the milestone.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Dashboard project counts and profitability use journals inside your date range.</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Accounting workspace</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Manual journals, ledgers, assets, and tax</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General journal entries still go through approval before they post — same permanence rules as system journals.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General ledger, trial balance, and account inquiry show posted lines only.</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Receivable and payable sub-ledgers must agree with their control accounts; inventory ledger shows quantity and value by product and warehouse.</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Fixed assets: acquisition, straight-line depreciation, and disposal each post balanced journals.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Tax codes and payments respect effective dates so you cannot apply an expired code.</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PDF, spreadsheet, and CSV downloads use the same rows you see on screen.</a:t>
            </a:r>
            <a:endParaRPr lang="en-US" sz="14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Financial reports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Management packs from the same journals</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Statements</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How to use them</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Profit and loss — compare another period, year to date, branches, and statement budget.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Balance sheet — includes current-year profit.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On a branch balance sheet, interbranch clearing keeps Assets = Liabilities + Equity.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At company level, interbranch clearing nets to zero.</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Cash flow uses the indirect method; internal cash↔bank transfers do not inflate profit or company cash.</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Always set branch filter and dates before reading totals.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Drill from dashboard cards into the lines that built a figure.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Use aging and control accounts to prove AR, AP, and inventory.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After month close, closed-period adjustments are the only way into locked months.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Export the same pack for board or auditors without re-keying.</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Daily closing</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Branch day pack with dual review</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Each branch day stores sales, collections, credit sales, expenses, refunds, inventory exceptions, pending approvals, and the cash-count difference.</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Figures are taken from posted activity for that day — not from a separate manual sheet that can drift.</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A reviewer who is not the preparer signs off the day.</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Once reviewed, the stored figures stay with that day for later audit.</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Use daily close to catch cash differences and unfinished approvals before month end.</a:t>
            </a:r>
            <a:endParaRPr lang="en-US" sz="15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Month and period close</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Checklist, second person, then lock</a:t>
            </a:r>
            <a:endParaRPr lang="en-US" sz="1200" dirty="0"/>
          </a:p>
        </p:txBody>
      </p:sp>
      <p:sp>
        <p:nvSpPr>
          <p:cNvPr id="6" name="Shape 4"/>
          <p:cNvSpPr/>
          <p:nvPr/>
        </p:nvSpPr>
        <p:spPr>
          <a:xfrm>
            <a:off x="540868" y="1417320"/>
            <a:ext cx="1965960" cy="960120"/>
          </a:xfrm>
          <a:prstGeom prst="roundRect">
            <a:avLst/>
          </a:prstGeom>
          <a:solidFill>
            <a:srgbClr val="1B6CA8"/>
          </a:solidFill>
          <a:ln/>
        </p:spPr>
      </p:sp>
      <p:sp>
        <p:nvSpPr>
          <p:cNvPr id="7" name="Text 5"/>
          <p:cNvSpPr/>
          <p:nvPr/>
        </p:nvSpPr>
        <p:spPr>
          <a:xfrm>
            <a:off x="586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Open period</a:t>
            </a:r>
            <a:endParaRPr lang="en-US" sz="1100" dirty="0"/>
          </a:p>
        </p:txBody>
      </p:sp>
      <p:sp>
        <p:nvSpPr>
          <p:cNvPr id="8" name="Shape 6"/>
          <p:cNvSpPr/>
          <p:nvPr/>
        </p:nvSpPr>
        <p:spPr>
          <a:xfrm>
            <a:off x="2552548" y="1783080"/>
            <a:ext cx="228600" cy="201168"/>
          </a:xfrm>
          <a:prstGeom prst="rightArrow">
            <a:avLst/>
          </a:prstGeom>
          <a:solidFill>
            <a:srgbClr val="1B6CA8"/>
          </a:solidFill>
          <a:ln/>
        </p:spPr>
      </p:sp>
      <p:sp>
        <p:nvSpPr>
          <p:cNvPr id="9" name="Shape 7"/>
          <p:cNvSpPr/>
          <p:nvPr/>
        </p:nvSpPr>
        <p:spPr>
          <a:xfrm>
            <a:off x="2826868" y="1417320"/>
            <a:ext cx="1965960" cy="960120"/>
          </a:xfrm>
          <a:prstGeom prst="roundRect">
            <a:avLst/>
          </a:prstGeom>
          <a:solidFill>
            <a:srgbClr val="0B1F3A"/>
          </a:solidFill>
          <a:ln/>
        </p:spPr>
      </p:sp>
      <p:sp>
        <p:nvSpPr>
          <p:cNvPr id="10" name="Text 8"/>
          <p:cNvSpPr/>
          <p:nvPr/>
        </p:nvSpPr>
        <p:spPr>
          <a:xfrm>
            <a:off x="2872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Closing + checklist</a:t>
            </a:r>
            <a:endParaRPr lang="en-US" sz="1100" dirty="0"/>
          </a:p>
        </p:txBody>
      </p:sp>
      <p:sp>
        <p:nvSpPr>
          <p:cNvPr id="11" name="Shape 9"/>
          <p:cNvSpPr/>
          <p:nvPr/>
        </p:nvSpPr>
        <p:spPr>
          <a:xfrm>
            <a:off x="4838548" y="1783080"/>
            <a:ext cx="228600" cy="201168"/>
          </a:xfrm>
          <a:prstGeom prst="rightArrow">
            <a:avLst/>
          </a:prstGeom>
          <a:solidFill>
            <a:srgbClr val="1B6CA8"/>
          </a:solidFill>
          <a:ln/>
        </p:spPr>
      </p:sp>
      <p:sp>
        <p:nvSpPr>
          <p:cNvPr id="12" name="Shape 10"/>
          <p:cNvSpPr/>
          <p:nvPr/>
        </p:nvSpPr>
        <p:spPr>
          <a:xfrm>
            <a:off x="5112868" y="1417320"/>
            <a:ext cx="1965960" cy="960120"/>
          </a:xfrm>
          <a:prstGeom prst="roundRect">
            <a:avLst/>
          </a:prstGeom>
          <a:solidFill>
            <a:srgbClr val="0B1F3A"/>
          </a:solidFill>
          <a:ln/>
        </p:spPr>
      </p:sp>
      <p:sp>
        <p:nvSpPr>
          <p:cNvPr id="13" name="Text 11"/>
          <p:cNvSpPr/>
          <p:nvPr/>
        </p:nvSpPr>
        <p:spPr>
          <a:xfrm>
            <a:off x="5158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Second approval</a:t>
            </a:r>
            <a:endParaRPr lang="en-US" sz="1100" dirty="0"/>
          </a:p>
        </p:txBody>
      </p:sp>
      <p:sp>
        <p:nvSpPr>
          <p:cNvPr id="14" name="Shape 12"/>
          <p:cNvSpPr/>
          <p:nvPr/>
        </p:nvSpPr>
        <p:spPr>
          <a:xfrm>
            <a:off x="7124548" y="1783080"/>
            <a:ext cx="228600" cy="201168"/>
          </a:xfrm>
          <a:prstGeom prst="rightArrow">
            <a:avLst/>
          </a:prstGeom>
          <a:solidFill>
            <a:srgbClr val="1B6CA8"/>
          </a:solidFill>
          <a:ln/>
        </p:spPr>
      </p:sp>
      <p:sp>
        <p:nvSpPr>
          <p:cNvPr id="15" name="Shape 13"/>
          <p:cNvSpPr/>
          <p:nvPr/>
        </p:nvSpPr>
        <p:spPr>
          <a:xfrm>
            <a:off x="7398868" y="1417320"/>
            <a:ext cx="1965960" cy="960120"/>
          </a:xfrm>
          <a:prstGeom prst="roundRect">
            <a:avLst/>
          </a:prstGeom>
          <a:solidFill>
            <a:srgbClr val="0B1F3A"/>
          </a:solidFill>
          <a:ln/>
        </p:spPr>
      </p:sp>
      <p:sp>
        <p:nvSpPr>
          <p:cNvPr id="16" name="Text 14"/>
          <p:cNvSpPr/>
          <p:nvPr/>
        </p:nvSpPr>
        <p:spPr>
          <a:xfrm>
            <a:off x="7444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Locked</a:t>
            </a:r>
            <a:endParaRPr lang="en-US" sz="1100" dirty="0"/>
          </a:p>
        </p:txBody>
      </p:sp>
      <p:sp>
        <p:nvSpPr>
          <p:cNvPr id="17" name="Shape 15"/>
          <p:cNvSpPr/>
          <p:nvPr/>
        </p:nvSpPr>
        <p:spPr>
          <a:xfrm>
            <a:off x="9410548" y="1783080"/>
            <a:ext cx="228600" cy="201168"/>
          </a:xfrm>
          <a:prstGeom prst="rightArrow">
            <a:avLst/>
          </a:prstGeom>
          <a:solidFill>
            <a:srgbClr val="1B6CA8"/>
          </a:solidFill>
          <a:ln/>
        </p:spPr>
      </p:sp>
      <p:sp>
        <p:nvSpPr>
          <p:cNvPr id="18" name="Shape 16"/>
          <p:cNvSpPr/>
          <p:nvPr/>
        </p:nvSpPr>
        <p:spPr>
          <a:xfrm>
            <a:off x="9684868" y="1417320"/>
            <a:ext cx="1965960" cy="960120"/>
          </a:xfrm>
          <a:prstGeom prst="roundRect">
            <a:avLst/>
          </a:prstGeom>
          <a:solidFill>
            <a:srgbClr val="0B1F3A"/>
          </a:solidFill>
          <a:ln/>
        </p:spPr>
      </p:sp>
      <p:sp>
        <p:nvSpPr>
          <p:cNvPr id="19" name="Text 17"/>
          <p:cNvSpPr/>
          <p:nvPr/>
        </p:nvSpPr>
        <p:spPr>
          <a:xfrm>
            <a:off x="9730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Reopen if allowed</a:t>
            </a:r>
            <a:endParaRPr lang="en-US" sz="1100" dirty="0"/>
          </a:p>
        </p:txBody>
      </p:sp>
      <p:sp>
        <p:nvSpPr>
          <p:cNvPr id="20" name="Text 18"/>
          <p:cNvSpPr/>
          <p:nvPr/>
        </p:nvSpPr>
        <p:spPr>
          <a:xfrm>
            <a:off x="457200" y="2651760"/>
            <a:ext cx="11247120" cy="4937760"/>
          </a:xfrm>
          <a:prstGeom prst="rect">
            <a:avLst/>
          </a:prstGeom>
          <a:noFill/>
          <a:ln/>
        </p:spPr>
        <p:txBody>
          <a:bodyPr wrap="square" rtlCol="0" anchor="t"/>
          <a:lstStyle/>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Month close moves a period from open to closing and records the twelve checklist results.</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Only another person can approve the lock. After lock, ordinary posting is rejected.</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Reopening requires the reopen permission and a written reason.</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Locking the last month of a year can store statements, close income and expense into retained earnings, and open the next year — the snapshot keeps profit from before that transfer.</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Closed-period adjustments remain the controlled exception path for true late corrections.</a:t>
            </a:r>
            <a:endParaRPr lang="en-US" sz="1300" dirty="0"/>
          </a:p>
        </p:txBody>
      </p:sp>
      <p:sp>
        <p:nvSpPr>
          <p:cNvPr id="21" name="Shape 19"/>
          <p:cNvSpPr/>
          <p:nvPr/>
        </p:nvSpPr>
        <p:spPr>
          <a:xfrm>
            <a:off x="0" y="6537960"/>
            <a:ext cx="12191695" cy="320040"/>
          </a:xfrm>
          <a:prstGeom prst="rect">
            <a:avLst/>
          </a:prstGeom>
          <a:solidFill>
            <a:srgbClr val="0B1F3A"/>
          </a:solidFill>
          <a:ln/>
        </p:spPr>
      </p:sp>
      <p:sp>
        <p:nvSpPr>
          <p:cNvPr id="22" name="Text 20"/>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23" name="Text 21"/>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Payroll summaries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External payroll, controlled posting inside the books</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What you do</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updates in the books</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Keep employees on the directory (branch, department, status) — not salary amounts on the person record.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Enter an approved summary from your external payroll process.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 different person must approve the summary before it posts.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Record salary payments (including partial settlement) against one or more summaries.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Post only into an open fiscal period.</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Approval posts gross salary expense, deduction liabilities, and salaries payable.</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Payments clear salaries payable from cash or bank.</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Outstanding totals should agree with the salaries payable control account.</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Nothing posts until the second person approves.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This keeps payroll processing outside the system while the general ledger stays complete.</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Users, roles, and approvals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Separation of duties across head office and branches</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Invite users, assign roles, and attach branch assignments for anyone who is not company-wide.</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Company-wide roles are not limited to a branch list; everyone else only sees assigned branches.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Approval policies, delegations, and separation rules stop the same person from creating and approving where dual control is required.</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Purchase and expense limits: branch approvers up to the company limit; above that, company-wide approval.</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Suspend a user or revoke sessions when access must stop immediately.</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Privileged finance roles may require authenticator (MFA) before they can work in the books.</a:t>
            </a:r>
            <a:endParaRPr lang="en-US" sz="14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Settings and documents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Configuration that shapes every posting</a:t>
            </a:r>
            <a:endParaRPr lang="en-US" sz="1200" dirty="0"/>
          </a:p>
        </p:txBody>
      </p:sp>
      <p:sp>
        <p:nvSpPr>
          <p:cNvPr id="6" name="Shape 4"/>
          <p:cNvSpPr/>
          <p:nvPr/>
        </p:nvSpPr>
        <p:spPr>
          <a:xfrm>
            <a:off x="36576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7" name="Shape 5"/>
          <p:cNvSpPr/>
          <p:nvPr/>
        </p:nvSpPr>
        <p:spPr>
          <a:xfrm>
            <a:off x="6217920" y="1234440"/>
            <a:ext cx="5577840" cy="4937760"/>
          </a:xfrm>
          <a:prstGeom prst="roundRect">
            <a:avLst/>
          </a:prstGeom>
          <a:solidFill>
            <a:srgbClr val="FFFFFF"/>
          </a:solidFill>
          <a:ln/>
          <a:effectLst>
            <a:outerShdw blurRad="38100" dist="12700" dir="16200000" algn="bl" rotWithShape="0">
              <a:srgbClr val="000000">
                <a:alpha val="8000"/>
              </a:srgbClr>
            </a:outerShdw>
          </a:effectLst>
        </p:spPr>
      </p:sp>
      <p:sp>
        <p:nvSpPr>
          <p:cNvPr id="8" name="Text 6"/>
          <p:cNvSpPr/>
          <p:nvPr/>
        </p:nvSpPr>
        <p:spPr>
          <a:xfrm>
            <a:off x="548640" y="1371600"/>
            <a:ext cx="5212080" cy="32004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Settings hub</a:t>
            </a:r>
            <a:endParaRPr lang="en-US" sz="1400" dirty="0"/>
          </a:p>
        </p:txBody>
      </p:sp>
      <p:sp>
        <p:nvSpPr>
          <p:cNvPr id="9" name="Text 7"/>
          <p:cNvSpPr/>
          <p:nvPr/>
        </p:nvSpPr>
        <p:spPr>
          <a:xfrm>
            <a:off x="6400800" y="1371600"/>
            <a:ext cx="521208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What changes when you edit</a:t>
            </a:r>
            <a:endParaRPr lang="en-US" sz="1400" dirty="0"/>
          </a:p>
        </p:txBody>
      </p:sp>
      <p:sp>
        <p:nvSpPr>
          <p:cNvPr id="10" name="Text 8"/>
          <p:cNvSpPr/>
          <p:nvPr/>
        </p:nvSpPr>
        <p:spPr>
          <a:xfrm>
            <a:off x="54864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Company profile and logo.</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Document templates for customer-facing printouts.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Accounting mappings and tax codes.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Fiscal period status overview.</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Approval policies, delegations, and separation rules.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Searchable audit history of controlled changes.</a:t>
            </a:r>
            <a:endParaRPr lang="en-US" sz="1200" dirty="0"/>
          </a:p>
        </p:txBody>
      </p:sp>
      <p:sp>
        <p:nvSpPr>
          <p:cNvPr id="11" name="Text 9"/>
          <p:cNvSpPr/>
          <p:nvPr/>
        </p:nvSpPr>
        <p:spPr>
          <a:xfrm>
            <a:off x="6400800" y="1783080"/>
            <a:ext cx="5212080" cy="4114800"/>
          </a:xfrm>
          <a:prstGeom prst="rect">
            <a:avLst/>
          </a:prstGeom>
          <a:noFill/>
          <a:ln/>
        </p:spPr>
        <p:txBody>
          <a:bodyPr wrap="square" rtlCol="0" anchor="t"/>
          <a:lstStyle/>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Mapping or tax edits change how future documents post — review carefully.</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Company and branch changes are written to immutable audit events (sensitive values redacted).</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Managed documents (attachments, logo) respect size and type rules and branch-aware access.</a:t>
            </a:r>
            <a:endParaRPr lang="en-US" sz="1200" dirty="0"/>
          </a:p>
          <a:p>
            <a:pPr marL="342900" indent="-342900">
              <a:spcAft>
                <a:spcPts val="500"/>
              </a:spcAft>
              <a:buSzPct val="100000"/>
              <a:buChar char="•"/>
            </a:pPr>
            <a:r>
              <a:rPr lang="en-US" sz="1200" dirty="0">
                <a:solidFill>
                  <a:srgbClr val="1A2332"/>
                </a:solidFill>
                <a:latin typeface="Calibri" pitchFamily="34" charset="0"/>
                <a:ea typeface="Calibri" pitchFamily="34" charset="-122"/>
                <a:cs typeface="Calibri" pitchFamily="34" charset="-120"/>
              </a:rPr>
              <a:t>Wrong configuration is a books risk even when staff follow screens correctly.</a:t>
            </a:r>
            <a:endParaRPr lang="en-US" sz="1200" dirty="0"/>
          </a:p>
        </p:txBody>
      </p:sp>
      <p:sp>
        <p:nvSpPr>
          <p:cNvPr id="12" name="Shape 10"/>
          <p:cNvSpPr/>
          <p:nvPr/>
        </p:nvSpPr>
        <p:spPr>
          <a:xfrm>
            <a:off x="0" y="6537960"/>
            <a:ext cx="12191695" cy="320040"/>
          </a:xfrm>
          <a:prstGeom prst="rect">
            <a:avLst/>
          </a:prstGeom>
          <a:solidFill>
            <a:srgbClr val="0B1F3A"/>
          </a:solidFill>
          <a:ln/>
        </p:spPr>
      </p:sp>
      <p:sp>
        <p:nvSpPr>
          <p:cNvPr id="13" name="Text 11"/>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14" name="Text 12"/>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Notifications accountants care about</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Work that needs your attention</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Approval requests and outcomes — so dual control does not stall sales, purchases, or expenses.</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Overdue customer invoices — collections focus.</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Low stock — purchasing and transfer planning.</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Supplier bills due — cash planning and AP.</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Failed postings — investigate before month end.</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Period-closing reminders — checklist and lock on time.</a:t>
            </a:r>
            <a:endParaRPr lang="en-US" sz="15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 import (opening the books)</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Staged CSV with dual control</a:t>
            </a:r>
            <a:endParaRPr lang="en-US" sz="1200" dirty="0"/>
          </a:p>
        </p:txBody>
      </p:sp>
      <p:sp>
        <p:nvSpPr>
          <p:cNvPr id="6" name="Shape 4"/>
          <p:cNvSpPr/>
          <p:nvPr/>
        </p:nvSpPr>
        <p:spPr>
          <a:xfrm>
            <a:off x="540868" y="1417320"/>
            <a:ext cx="1965960" cy="960120"/>
          </a:xfrm>
          <a:prstGeom prst="roundRect">
            <a:avLst/>
          </a:prstGeom>
          <a:solidFill>
            <a:srgbClr val="1B6CA8"/>
          </a:solidFill>
          <a:ln/>
        </p:spPr>
      </p:sp>
      <p:sp>
        <p:nvSpPr>
          <p:cNvPr id="7" name="Text 5"/>
          <p:cNvSpPr/>
          <p:nvPr/>
        </p:nvSpPr>
        <p:spPr>
          <a:xfrm>
            <a:off x="586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Upload CSV</a:t>
            </a:r>
            <a:endParaRPr lang="en-US" sz="1100" dirty="0"/>
          </a:p>
        </p:txBody>
      </p:sp>
      <p:sp>
        <p:nvSpPr>
          <p:cNvPr id="8" name="Shape 6"/>
          <p:cNvSpPr/>
          <p:nvPr/>
        </p:nvSpPr>
        <p:spPr>
          <a:xfrm>
            <a:off x="2552548" y="1783080"/>
            <a:ext cx="228600" cy="201168"/>
          </a:xfrm>
          <a:prstGeom prst="rightArrow">
            <a:avLst/>
          </a:prstGeom>
          <a:solidFill>
            <a:srgbClr val="1B6CA8"/>
          </a:solidFill>
          <a:ln/>
        </p:spPr>
      </p:sp>
      <p:sp>
        <p:nvSpPr>
          <p:cNvPr id="9" name="Shape 7"/>
          <p:cNvSpPr/>
          <p:nvPr/>
        </p:nvSpPr>
        <p:spPr>
          <a:xfrm>
            <a:off x="2826868" y="1417320"/>
            <a:ext cx="1965960" cy="960120"/>
          </a:xfrm>
          <a:prstGeom prst="roundRect">
            <a:avLst/>
          </a:prstGeom>
          <a:solidFill>
            <a:srgbClr val="0B1F3A"/>
          </a:solidFill>
          <a:ln/>
        </p:spPr>
      </p:sp>
      <p:sp>
        <p:nvSpPr>
          <p:cNvPr id="10" name="Text 8"/>
          <p:cNvSpPr/>
          <p:nvPr/>
        </p:nvSpPr>
        <p:spPr>
          <a:xfrm>
            <a:off x="2872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p:txBody>
      </p:sp>
      <p:sp>
        <p:nvSpPr>
          <p:cNvPr id="11" name="Shape 9"/>
          <p:cNvSpPr/>
          <p:nvPr/>
        </p:nvSpPr>
        <p:spPr>
          <a:xfrm>
            <a:off x="4838548" y="1783080"/>
            <a:ext cx="228600" cy="201168"/>
          </a:xfrm>
          <a:prstGeom prst="rightArrow">
            <a:avLst/>
          </a:prstGeom>
          <a:solidFill>
            <a:srgbClr val="1B6CA8"/>
          </a:solidFill>
          <a:ln/>
        </p:spPr>
      </p:sp>
      <p:sp>
        <p:nvSpPr>
          <p:cNvPr id="12" name="Shape 10"/>
          <p:cNvSpPr/>
          <p:nvPr/>
        </p:nvSpPr>
        <p:spPr>
          <a:xfrm>
            <a:off x="5112868" y="1417320"/>
            <a:ext cx="1965960" cy="960120"/>
          </a:xfrm>
          <a:prstGeom prst="roundRect">
            <a:avLst/>
          </a:prstGeom>
          <a:solidFill>
            <a:srgbClr val="0B1F3A"/>
          </a:solidFill>
          <a:ln/>
        </p:spPr>
      </p:sp>
      <p:sp>
        <p:nvSpPr>
          <p:cNvPr id="13" name="Text 11"/>
          <p:cNvSpPr/>
          <p:nvPr/>
        </p:nvSpPr>
        <p:spPr>
          <a:xfrm>
            <a:off x="5158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Preview</a:t>
            </a:r>
            <a:endParaRPr lang="en-US" sz="1100" dirty="0"/>
          </a:p>
        </p:txBody>
      </p:sp>
      <p:sp>
        <p:nvSpPr>
          <p:cNvPr id="14" name="Shape 12"/>
          <p:cNvSpPr/>
          <p:nvPr/>
        </p:nvSpPr>
        <p:spPr>
          <a:xfrm>
            <a:off x="7124548" y="1783080"/>
            <a:ext cx="228600" cy="201168"/>
          </a:xfrm>
          <a:prstGeom prst="rightArrow">
            <a:avLst/>
          </a:prstGeom>
          <a:solidFill>
            <a:srgbClr val="1B6CA8"/>
          </a:solidFill>
          <a:ln/>
        </p:spPr>
      </p:sp>
      <p:sp>
        <p:nvSpPr>
          <p:cNvPr id="15" name="Shape 13"/>
          <p:cNvSpPr/>
          <p:nvPr/>
        </p:nvSpPr>
        <p:spPr>
          <a:xfrm>
            <a:off x="7398868" y="1417320"/>
            <a:ext cx="1965960" cy="960120"/>
          </a:xfrm>
          <a:prstGeom prst="roundRect">
            <a:avLst/>
          </a:prstGeom>
          <a:solidFill>
            <a:srgbClr val="0B1F3A"/>
          </a:solidFill>
          <a:ln/>
        </p:spPr>
      </p:sp>
      <p:sp>
        <p:nvSpPr>
          <p:cNvPr id="16" name="Text 14"/>
          <p:cNvSpPr/>
          <p:nvPr/>
        </p:nvSpPr>
        <p:spPr>
          <a:xfrm>
            <a:off x="7444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Approve</a:t>
            </a:r>
            <a:endParaRPr lang="en-US" sz="1100" dirty="0"/>
          </a:p>
        </p:txBody>
      </p:sp>
      <p:sp>
        <p:nvSpPr>
          <p:cNvPr id="17" name="Shape 15"/>
          <p:cNvSpPr/>
          <p:nvPr/>
        </p:nvSpPr>
        <p:spPr>
          <a:xfrm>
            <a:off x="9410548" y="1783080"/>
            <a:ext cx="228600" cy="201168"/>
          </a:xfrm>
          <a:prstGeom prst="rightArrow">
            <a:avLst/>
          </a:prstGeom>
          <a:solidFill>
            <a:srgbClr val="1B6CA8"/>
          </a:solidFill>
          <a:ln/>
        </p:spPr>
      </p:sp>
      <p:sp>
        <p:nvSpPr>
          <p:cNvPr id="18" name="Shape 16"/>
          <p:cNvSpPr/>
          <p:nvPr/>
        </p:nvSpPr>
        <p:spPr>
          <a:xfrm>
            <a:off x="9684868" y="1417320"/>
            <a:ext cx="1965960" cy="960120"/>
          </a:xfrm>
          <a:prstGeom prst="roundRect">
            <a:avLst/>
          </a:prstGeom>
          <a:solidFill>
            <a:srgbClr val="0B1F3A"/>
          </a:solidFill>
          <a:ln/>
        </p:spPr>
      </p:sp>
      <p:sp>
        <p:nvSpPr>
          <p:cNvPr id="19" name="Text 17"/>
          <p:cNvSpPr/>
          <p:nvPr/>
        </p:nvSpPr>
        <p:spPr>
          <a:xfrm>
            <a:off x="9730588" y="1673352"/>
            <a:ext cx="18745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Commit</a:t>
            </a:r>
            <a:endParaRPr lang="en-US" sz="1100" dirty="0"/>
          </a:p>
        </p:txBody>
      </p:sp>
      <p:sp>
        <p:nvSpPr>
          <p:cNvPr id="20" name="Text 18"/>
          <p:cNvSpPr/>
          <p:nvPr/>
        </p:nvSpPr>
        <p:spPr>
          <a:xfrm>
            <a:off x="457200" y="2651760"/>
            <a:ext cx="11247120" cy="4937760"/>
          </a:xfrm>
          <a:prstGeom prst="rect">
            <a:avLst/>
          </a:prstGeom>
          <a:noFill/>
          <a:ln/>
        </p:spPr>
        <p:txBody>
          <a:bodyPr wrap="square" rtlCol="0" anchor="t"/>
          <a:lstStyle/>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Use Data Import to bring masters and opening balances when going live or catching up history.</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Pipeline: upload → parse → validate → preview → a different user approves → commit → stored report.</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Unbalanced opening trial balance or bank opening batches cannot be approved or committed.</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Commit posts opening financials through the same accounting engine as day-to-day work — not as free-hand ledger edits.</a:t>
            </a:r>
            <a:endParaRPr lang="en-US" sz="1300" dirty="0"/>
          </a:p>
          <a:p>
            <a:pPr marL="342900" indent="-342900">
              <a:spcAft>
                <a:spcPts val="500"/>
              </a:spcAft>
              <a:buSzPct val="100000"/>
              <a:buChar char="•"/>
            </a:pPr>
            <a:r>
              <a:rPr lang="en-US" sz="1300" dirty="0">
                <a:solidFill>
                  <a:srgbClr val="1A2332"/>
                </a:solidFill>
                <a:latin typeface="Calibri" pitchFamily="34" charset="0"/>
                <a:ea typeface="Calibri" pitchFamily="34" charset="-122"/>
                <a:cs typeface="Calibri" pitchFamily="34" charset="-120"/>
              </a:rPr>
              <a:t>After commit, confirm control accounts, inventory quantity/value, and the import report before trading.</a:t>
            </a:r>
            <a:endParaRPr lang="en-US" sz="1300" dirty="0"/>
          </a:p>
        </p:txBody>
      </p:sp>
      <p:sp>
        <p:nvSpPr>
          <p:cNvPr id="21" name="Shape 19"/>
          <p:cNvSpPr/>
          <p:nvPr/>
        </p:nvSpPr>
        <p:spPr>
          <a:xfrm>
            <a:off x="0" y="6537960"/>
            <a:ext cx="12191695" cy="320040"/>
          </a:xfrm>
          <a:prstGeom prst="rect">
            <a:avLst/>
          </a:prstGeom>
          <a:solidFill>
            <a:srgbClr val="0B1F3A"/>
          </a:solidFill>
          <a:ln/>
        </p:spPr>
      </p:sp>
      <p:sp>
        <p:nvSpPr>
          <p:cNvPr id="22" name="Text 20"/>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23" name="Text 21"/>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the platform stays in sync</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One action, many places that refresh</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Finalize or approve a document → document status changes (draft to posted/paid/received).</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If stock is involved → warehouse quantities and average cost update in the same step.</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The accounting engine posts the journal → every report that reads journals reflects the new lines.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Dashboard, aging, trial balance, P&amp;L, balance sheet, cash book, and project profitability stay aligned because they share one ledger.</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Branch filter only changes which slice you view — it does not create a second set of books.</a:t>
            </a:r>
            <a:endParaRPr lang="en-US" sz="1400" dirty="0"/>
          </a:p>
          <a:p>
            <a:pPr marL="342900" indent="-342900">
              <a:spcAft>
                <a:spcPts val="700"/>
              </a:spcAft>
              <a:buSzPct val="100000"/>
              <a:buChar char="•"/>
            </a:pPr>
            <a:r>
              <a:rPr lang="en-US" sz="1400" dirty="0">
                <a:solidFill>
                  <a:srgbClr val="1A2332"/>
                </a:solidFill>
                <a:latin typeface="Calibri" pitchFamily="34" charset="0"/>
                <a:ea typeface="Calibri" pitchFamily="34" charset="-122"/>
                <a:cs typeface="Calibri" pitchFamily="34" charset="-120"/>
              </a:rPr>
              <a:t>Notifications and pending-approval queues update so the next reviewer sees the work.</a:t>
            </a:r>
            <a:endParaRPr lang="en-US" sz="14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never changes after posting</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Integrity rules to teach every branch</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No silent edit of a posted journal — reverse and, if needed, enter a new correct document.</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No second receipt that “adds” the same revenue again — receipts settle AR or advances only.</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No posting into a closed period without an approved closed-period adjustment.</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No self-approval where dual control is required.</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No selling serials or quantities the branch does not hold (including stock still in transit).</a:t>
            </a:r>
            <a:endParaRPr lang="en-US" sz="1500" dirty="0"/>
          </a:p>
          <a:p>
            <a:pPr marL="342900" indent="-342900">
              <a:spcAft>
                <a:spcPts val="800"/>
              </a:spcAft>
              <a:buSzPct val="100000"/>
              <a:buChar char="•"/>
            </a:pPr>
            <a:r>
              <a:rPr lang="en-US" sz="1500" dirty="0">
                <a:solidFill>
                  <a:srgbClr val="1A2332"/>
                </a:solidFill>
                <a:latin typeface="Calibri" pitchFamily="34" charset="0"/>
                <a:ea typeface="Calibri" pitchFamily="34" charset="-122"/>
                <a:cs typeface="Calibri" pitchFamily="34" charset="-120"/>
              </a:rPr>
              <a:t>No unbalanced opening import — the books must balance before commit.</a:t>
            </a:r>
            <a:endParaRPr lang="en-US" sz="1500" dirty="0"/>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2F6FA"/>
          </a:solidFill>
          <a:ln/>
        </p:spPr>
      </p:sp>
      <p:sp>
        <p:nvSpPr>
          <p:cNvPr id="3" name="Shape 1"/>
          <p:cNvSpPr/>
          <p:nvPr/>
        </p:nvSpPr>
        <p:spPr>
          <a:xfrm>
            <a:off x="0" y="0"/>
            <a:ext cx="12191695" cy="1005840"/>
          </a:xfrm>
          <a:prstGeom prst="rect">
            <a:avLst/>
          </a:prstGeom>
          <a:solidFill>
            <a:srgbClr val="0B1F3A"/>
          </a:solidFill>
          <a:ln/>
        </p:spPr>
      </p:sp>
      <p:sp>
        <p:nvSpPr>
          <p:cNvPr id="4" name="Text 2"/>
          <p:cNvSpPr/>
          <p:nvPr/>
        </p:nvSpPr>
        <p:spPr>
          <a:xfrm>
            <a:off x="411480" y="164592"/>
            <a:ext cx="11338560" cy="38404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Quick reference — when the books update</a:t>
            </a:r>
            <a:endParaRPr lang="en-US" sz="2400" dirty="0"/>
          </a:p>
        </p:txBody>
      </p:sp>
      <p:sp>
        <p:nvSpPr>
          <p:cNvPr id="5" name="Text 3"/>
          <p:cNvSpPr/>
          <p:nvPr/>
        </p:nvSpPr>
        <p:spPr>
          <a:xfrm>
            <a:off x="411480" y="566928"/>
            <a:ext cx="11338560" cy="320040"/>
          </a:xfrm>
          <a:prstGeom prst="rect">
            <a:avLst/>
          </a:prstGeom>
          <a:noFill/>
          <a:ln/>
        </p:spPr>
        <p:txBody>
          <a:bodyPr wrap="square" rtlCol="0" anchor="ctr"/>
          <a:lstStyle/>
          <a:p>
            <a:pPr marL="0" indent="0">
              <a:buNone/>
            </a:pPr>
            <a:r>
              <a:rPr lang="en-US" sz="1200" dirty="0">
                <a:solidFill>
                  <a:srgbClr val="B8C9DC"/>
                </a:solidFill>
                <a:latin typeface="Calibri" pitchFamily="34" charset="0"/>
                <a:ea typeface="Calibri" pitchFamily="34" charset="-122"/>
                <a:cs typeface="Calibri" pitchFamily="34" charset="-120"/>
              </a:rPr>
              <a:t>Module → ledger and stock effect</a:t>
            </a:r>
            <a:endParaRPr lang="en-US" sz="1200" dirty="0"/>
          </a:p>
        </p:txBody>
      </p:sp>
      <p:sp>
        <p:nvSpPr>
          <p:cNvPr id="6" name="Text 4"/>
          <p:cNvSpPr/>
          <p:nvPr/>
        </p:nvSpPr>
        <p:spPr>
          <a:xfrm>
            <a:off x="457200" y="1234440"/>
            <a:ext cx="11247120" cy="4937760"/>
          </a:xfrm>
          <a:prstGeom prst="rect">
            <a:avLst/>
          </a:prstGeom>
          <a:noFill/>
          <a:ln/>
        </p:spPr>
        <p:txBody>
          <a:bodyPr wrap="square" rtlCol="0" anchor="t"/>
          <a:lstStyle/>
          <a:p>
            <a:pPr lvl="0"/>
            <a:r>
              <a:rPr lang="en-US" sz="1200" b="1" dirty="0"/>
              <a:t>Finalize Sales Invoice:</a:t>
            </a:r>
            <a:r>
              <a:rPr lang="en-US" sz="1200" dirty="0"/>
              <a:t> Increase Accounts Receivable or Cash/Bank, recognize Sales Revenue and applicable Tax Payable, reduce Inventory, and record the Cost of Goods Sold.</a:t>
            </a:r>
          </a:p>
          <a:p>
            <a:pPr lvl="0"/>
            <a:r>
              <a:rPr lang="en-US" sz="1200" b="1" dirty="0"/>
              <a:t>Customer Payment Receipt:</a:t>
            </a:r>
            <a:r>
              <a:rPr lang="en-US" sz="1200" dirty="0"/>
              <a:t> Increase Cash or Bank balances and reduce Accounts Receivable for outstanding invoices. If the payment is an advance, increase Customer Advance Liabilities instead. No additional revenue should be recorded.</a:t>
            </a:r>
          </a:p>
          <a:p>
            <a:pPr lvl="0"/>
            <a:r>
              <a:rPr lang="en-US" sz="1200" b="1" dirty="0"/>
              <a:t>Goods Receipt:</a:t>
            </a:r>
            <a:r>
              <a:rPr lang="en-US" sz="1200" dirty="0"/>
              <a:t> Increase Inventory and recognize a corresponding liability under Goods Received Not Invoiced. When the Supplier Invoice is received, reduce Goods Received Not Invoiced and increase Accounts Payable. Any price or quantity differences should be recorded in the appropriate variance accounts according to the configured accounting policies.</a:t>
            </a:r>
          </a:p>
          <a:p>
            <a:pPr lvl="0"/>
            <a:r>
              <a:rPr lang="en-US" sz="1200" b="1" dirty="0"/>
              <a:t>Supplier or Expense Payment:</a:t>
            </a:r>
            <a:r>
              <a:rPr lang="en-US" sz="1200" dirty="0"/>
              <a:t> Reduce Accounts Payable or Accrued Expense Liabilities and decrease the corresponding Cash or Bank balance.</a:t>
            </a:r>
          </a:p>
          <a:p>
            <a:pPr lvl="0"/>
            <a:r>
              <a:rPr lang="en-US" sz="1200" b="1" dirty="0"/>
              <a:t>Expense Approval:</a:t>
            </a:r>
            <a:r>
              <a:rPr lang="en-US" sz="1200" dirty="0"/>
              <a:t> Recognize the approved expense and increase Accrued Expense Liabilities when the expense has been incurred and meets the recognition requirements. When payment is made, reduce the liability and decrease Cash or Bank.</a:t>
            </a:r>
          </a:p>
          <a:p>
            <a:pPr lvl="0"/>
            <a:r>
              <a:rPr lang="en-US" sz="1200" b="1" dirty="0"/>
              <a:t>Bank Transfer:</a:t>
            </a:r>
            <a:r>
              <a:rPr lang="en-US" sz="1200" dirty="0"/>
              <a:t> Increase the receiving Cash or Bank account and decrease the sending Cash or Bank account. Where transfers are not completed immediately, use a Transfers in Transit account until the funds are received.</a:t>
            </a:r>
          </a:p>
          <a:p>
            <a:pPr lvl="0"/>
            <a:r>
              <a:rPr lang="en-US" sz="1200" b="1" dirty="0"/>
              <a:t>Project Material Issue and Milestone Invoicing:</a:t>
            </a:r>
            <a:r>
              <a:rPr lang="en-US" sz="1200" dirty="0"/>
              <a:t> When materials are issued to an installation project, increase Work in Progress or the appropriate Project Cost account and decrease Inventory. When a project milestone qualifies for revenue recognition, record Accounts Receivable and Project Revenue, together with the corresponding recognized project costs. Billing and revenue recognition must be handled separately when they occur at different times.</a:t>
            </a:r>
          </a:p>
          <a:p>
            <a:pPr lvl="0"/>
            <a:r>
              <a:rPr lang="en-US" sz="1200" b="1" dirty="0"/>
              <a:t>Payroll Summary Approval:</a:t>
            </a:r>
            <a:r>
              <a:rPr lang="en-US" sz="1200" dirty="0"/>
              <a:t> Recognize Salary Expenses, applicable Employee Deductions and Statutory Liabilities, and Net Salaries Payable based on the approved payroll summary. When salaries are paid, reduce Salaries Payable and decrease the corresponding Bank balance.</a:t>
            </a:r>
          </a:p>
          <a:p>
            <a:pPr lvl="0"/>
            <a:r>
              <a:rPr lang="en-US" sz="1200" b="1" dirty="0"/>
              <a:t>Stock Count Adjustments:</a:t>
            </a:r>
            <a:r>
              <a:rPr lang="en-US" sz="1200" dirty="0"/>
              <a:t> When an approved physical stock count identifies inventory shortages or excesses, adjust Inventory and recognize the corresponding Inventory Variance, Loss, or Gain through the accounting engine.</a:t>
            </a:r>
          </a:p>
          <a:p>
            <a:pPr lvl="0"/>
            <a:r>
              <a:rPr lang="en-US" sz="1200" b="1" dirty="0"/>
              <a:t>Fixed Asset Depreciation:</a:t>
            </a:r>
            <a:r>
              <a:rPr lang="en-US" sz="1200" dirty="0"/>
              <a:t> Periodically recognize Depreciation Expense and increase Accumulated Depreciation for applicable company assets, according to their approved depreciation schedules.</a:t>
            </a:r>
          </a:p>
          <a:p>
            <a:pPr lvl="0"/>
            <a:r>
              <a:rPr lang="en-US" sz="1200" b="1" dirty="0"/>
              <a:t>Opening Balance and Data Import Confirmation:</a:t>
            </a:r>
            <a:r>
              <a:rPr lang="en-US" sz="1200" dirty="0"/>
              <a:t> When validated opening balances or historical financial data are approved for import, generate the appropriate balanced journal entries through the centralized accounting engine, ensuring that imported assets, liabilities, equity, and subsidiary ledger balances reconcile.</a:t>
            </a:r>
          </a:p>
        </p:txBody>
      </p:sp>
      <p:sp>
        <p:nvSpPr>
          <p:cNvPr id="7" name="Shape 5"/>
          <p:cNvSpPr/>
          <p:nvPr/>
        </p:nvSpPr>
        <p:spPr>
          <a:xfrm>
            <a:off x="0" y="6537960"/>
            <a:ext cx="12191695" cy="320040"/>
          </a:xfrm>
          <a:prstGeom prst="rect">
            <a:avLst/>
          </a:prstGeom>
          <a:solidFill>
            <a:srgbClr val="0B1F3A"/>
          </a:solidFill>
          <a:ln/>
        </p:spPr>
      </p:sp>
      <p:sp>
        <p:nvSpPr>
          <p:cNvPr id="8" name="Text 6"/>
          <p:cNvSpPr/>
          <p:nvPr/>
        </p:nvSpPr>
        <p:spPr>
          <a:xfrm>
            <a:off x="320040" y="6565392"/>
            <a:ext cx="91440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Solar Accounting · Accountant guide · Confidential</a:t>
            </a:r>
            <a:endParaRPr lang="en-US" sz="1000" dirty="0"/>
          </a:p>
        </p:txBody>
      </p:sp>
      <p:sp>
        <p:nvSpPr>
          <p:cNvPr id="9" name="Text 7"/>
          <p:cNvSpPr/>
          <p:nvPr/>
        </p:nvSpPr>
        <p:spPr>
          <a:xfrm>
            <a:off x="11155680" y="6565392"/>
            <a:ext cx="731520" cy="25603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HomePC\Documents\accounting_software\docs\presentations\assets\hero-solar-business.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3A">
              <a:alpha val="60000"/>
            </a:srgbClr>
          </a:solidFill>
          <a:ln/>
        </p:spPr>
      </p:sp>
      <p:sp>
        <p:nvSpPr>
          <p:cNvPr id="4" name="Text 1"/>
          <p:cNvSpPr/>
          <p:nvPr/>
        </p:nvSpPr>
        <p:spPr>
          <a:xfrm>
            <a:off x="731520" y="2194560"/>
            <a:ext cx="10515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One company. Clear branches. One ledger.</a:t>
            </a:r>
            <a:endParaRPr lang="en-US" sz="2800" dirty="0"/>
          </a:p>
        </p:txBody>
      </p:sp>
      <p:sp>
        <p:nvSpPr>
          <p:cNvPr id="5" name="Text 2"/>
          <p:cNvSpPr/>
          <p:nvPr/>
        </p:nvSpPr>
        <p:spPr>
          <a:xfrm>
            <a:off x="731520" y="2880360"/>
            <a:ext cx="10515600" cy="731520"/>
          </a:xfrm>
          <a:prstGeom prst="rect">
            <a:avLst/>
          </a:prstGeom>
          <a:noFill/>
          <a:ln/>
        </p:spPr>
        <p:txBody>
          <a:bodyPr wrap="square" rtlCol="0" anchor="ctr"/>
          <a:lstStyle/>
          <a:p>
            <a:pPr marL="0" indent="0">
              <a:buNone/>
            </a:pPr>
            <a:r>
              <a:rPr lang="en-US" sz="1800" dirty="0">
                <a:solidFill>
                  <a:srgbClr val="D6E6F5"/>
                </a:solidFill>
                <a:latin typeface="Calibri" pitchFamily="34" charset="0"/>
                <a:ea typeface="Calibri" pitchFamily="34" charset="-122"/>
                <a:cs typeface="Calibri" pitchFamily="34" charset="-120"/>
              </a:rPr>
              <a:t>Every module updates the same books through the accounting engine —</a:t>
            </a:r>
            <a:endParaRPr lang="en-US" sz="1800" dirty="0"/>
          </a:p>
          <a:p>
            <a:pPr marL="0" indent="0">
              <a:buNone/>
            </a:pPr>
            <a:r>
              <a:rPr lang="en-US" sz="1800" dirty="0">
                <a:solidFill>
                  <a:srgbClr val="D6E6F5"/>
                </a:solidFill>
                <a:latin typeface="Calibri" pitchFamily="34" charset="0"/>
                <a:ea typeface="Calibri" pitchFamily="34" charset="-122"/>
                <a:cs typeface="Calibri" pitchFamily="34" charset="-120"/>
              </a:rPr>
              <a:t>so dashboard, reports, and period close always tell one story.</a:t>
            </a:r>
            <a:endParaRPr lang="en-US" sz="1800" dirty="0"/>
          </a:p>
        </p:txBody>
      </p:sp>
      <p:sp>
        <p:nvSpPr>
          <p:cNvPr id="6" name="Text 3"/>
          <p:cNvSpPr/>
          <p:nvPr/>
        </p:nvSpPr>
        <p:spPr>
          <a:xfrm>
            <a:off x="731520" y="5394960"/>
            <a:ext cx="10515600" cy="320040"/>
          </a:xfrm>
          <a:prstGeom prst="rect">
            <a:avLst/>
          </a:prstGeom>
          <a:noFill/>
          <a:ln/>
        </p:spPr>
        <p:txBody>
          <a:bodyPr wrap="square" rtlCol="0" anchor="ctr"/>
          <a:lstStyle/>
          <a:p>
            <a:pPr marL="0" indent="0">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4229</Words>
  <Application>Microsoft Office PowerPoint</Application>
  <PresentationFormat>Widescreen</PresentationFormat>
  <Paragraphs>399</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It Works — Accountant Guide</dc:title>
  <dc:subject>Accounting engine, branches, and how each module updates the books</dc:subject>
  <dc:creator>Solar &amp; Inverter Co.</dc:creator>
  <cp:lastModifiedBy>Dekpen Tari</cp:lastModifiedBy>
  <cp:revision>2</cp:revision>
  <dcterms:created xsi:type="dcterms:W3CDTF">2026-10-11T09:29:29Z</dcterms:created>
  <dcterms:modified xsi:type="dcterms:W3CDTF">2026-10-11T09:45:59Z</dcterms:modified>
</cp:coreProperties>
</file>